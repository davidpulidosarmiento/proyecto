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538" r:id="rId2"/>
    <p:sldId id="552" r:id="rId3"/>
    <p:sldId id="554" r:id="rId4"/>
    <p:sldId id="556" r:id="rId5"/>
    <p:sldId id="558" r:id="rId6"/>
    <p:sldId id="562" r:id="rId7"/>
    <p:sldId id="535" r:id="rId8"/>
    <p:sldId id="536" r:id="rId9"/>
    <p:sldId id="566" r:id="rId10"/>
    <p:sldId id="567" r:id="rId11"/>
    <p:sldId id="568" r:id="rId12"/>
    <p:sldId id="569" r:id="rId13"/>
    <p:sldId id="570" r:id="rId14"/>
    <p:sldId id="546" r:id="rId15"/>
    <p:sldId id="571" r:id="rId16"/>
    <p:sldId id="550" r:id="rId17"/>
    <p:sldId id="551" r:id="rId18"/>
    <p:sldId id="541" r:id="rId19"/>
    <p:sldId id="572" r:id="rId20"/>
    <p:sldId id="531" r:id="rId21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95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18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C"/>
    <a:srgbClr val="343433"/>
    <a:srgbClr val="FF6C00"/>
    <a:srgbClr val="38AA00"/>
    <a:srgbClr val="766363"/>
    <a:srgbClr val="FFF5EA"/>
    <a:srgbClr val="0032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02" autoAdjust="0"/>
    <p:restoredTop sz="97242"/>
  </p:normalViewPr>
  <p:slideViewPr>
    <p:cSldViewPr snapToGrid="0">
      <p:cViewPr varScale="1">
        <p:scale>
          <a:sx n="113" d="100"/>
          <a:sy n="113" d="100"/>
        </p:scale>
        <p:origin x="570" y="114"/>
      </p:cViewPr>
      <p:guideLst>
        <p:guide orient="horz" pos="595"/>
        <p:guide pos="3840"/>
        <p:guide orient="horz" pos="18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7" d="100"/>
          <a:sy n="97" d="100"/>
        </p:scale>
        <p:origin x="5336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9999AFE6-721E-1D92-FFC0-72E02DBB97B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A598C0A-ECF9-B897-80D5-1AE7ABA305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369B9F-131C-2846-AB8F-CEE154B4CAEB}" type="datetimeFigureOut">
              <a:rPr lang="es-CO" smtClean="0"/>
              <a:t>14/11/2024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88F308B-0102-A0B4-9A23-E807C735E85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E7CACDD-5D14-572A-2591-609B03F1682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93070F-3F68-E043-9CC3-B53B4F22454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700459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60CB96-A603-FF42-AE46-F5F75F80A67B}" type="datetimeFigureOut">
              <a:rPr lang="es-CO" smtClean="0"/>
              <a:t>14/11/2024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06C58E-460D-4A4B-B0C2-1191B9D14FC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2130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95260C-E8AD-B240-9481-5B2FE14A60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8F4960B-AC04-294C-9B8A-B10830EF5F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9F720DD-BA8F-C443-A59E-F0EEAF843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14/11/2024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A1676A-B50F-4048-B9A0-67475225D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0B408DD-191C-9940-B5DC-9B04378C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79450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817F6C-CDBB-234C-B00B-255C60E54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743F10-0075-0F47-A0C2-0071CB2B3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AB4C6E2-1F45-C54F-A384-6BA60BB5E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14/11/2024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F44B0E8-9C87-6C41-96F5-6419B5000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D08979-815A-D443-B424-FB031F975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42203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4B3E04-413C-394A-94BD-6FD1D56E1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2E8DEAC-948A-0F4A-9098-1EA5A30BE3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F0E9B39-9659-7747-851C-17A0C73C8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14/11/2024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90AE33-28EE-274E-8E15-02A147483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EA1D99B-0619-1847-8509-03589920E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303769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0119BB-39AA-4B48-BB60-3EE344FF2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8E8365F-8201-9D4B-85A4-E53E8819A8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674364B-4945-0A4D-A279-35519E3F46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68BFB1-0C38-A141-AB7B-22CD10FF3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14/11/2024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FF6516E-C104-3E4A-BC0F-DC137BD98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2C08597-16B2-3B42-B59A-8815DD747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42547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44272C-3F8B-AF4A-82BE-E5BE9107D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4B8DA00-E62A-A54E-BC50-AEBAAF2516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6E9F7D8-1A62-544F-A4E2-23A591854B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1895FC1-5F27-B640-81B9-33366BECB5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400D0329-F1AE-FE44-A7B4-B16B429A0C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A80CE19-B065-6E4F-A207-999BBF94C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14/11/2024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99C46BF-4920-E443-B109-668969C5E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C417FDA-D0D0-AD4C-9F49-6FFEC4BC6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6954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C92FB5-1F0C-DE4B-8A05-DE0792814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AF7F14C-AA7D-3049-A400-4AC6EED53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14/11/2024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746EF7E-3912-BF43-BEB6-49819D4EE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BD767C9-209C-E54C-90E7-5176E4464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22851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7E92712-14E7-954C-8C23-33CD3DBD7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14/11/2024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D7BCE5F-F417-1247-9F26-F4B713468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0B4FC7D-A6BA-0840-87AD-C71B1896B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41620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F2BE35-F0B5-DA4A-BE9E-AACFF26FF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E62C38B-5384-914E-829A-352266F70B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9E434B-6E01-8148-AB00-051DDD4020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E3E8B8D-7A8A-794B-83A8-6920142BB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14/11/2024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82F34C9-1A26-0B41-8AE3-21E599CC5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82100B2-B969-0340-BEE2-F5FE05353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9714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ADFDE3-8BDA-6F45-A442-3C2913AE5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08B3433-597C-7E43-A088-A50E443431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20DB791-C948-D149-A74A-0C0DFCA0B4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145138C-C370-6E42-902A-0DD2F4F61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14/11/2024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A61561C-CA9F-0943-8A3E-60233368C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7B72CA4-FB9F-FB4B-8159-119C3846C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695029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C07BF5-7EFA-9943-8CEE-7006AC89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EFF53FB-B16B-7444-99CF-B7533C11E2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C9133D3-834D-0942-99DE-29F15E8DC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14/11/2024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A5A02E1-CB07-7943-ACA2-6FF8387D3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2BC7A9-2B5F-1841-91C8-9460E3E55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11478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C11DF48-6A7C-3349-8650-2AA87E5D5E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5D61C96-3D9F-F745-A812-5EC81CEB48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3F61D3C-242D-F544-9883-3EEF515CE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14/11/2024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AB2518-6961-A143-A5EE-C5606EBA4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86FEAD3-1533-7A45-8011-C0C84A1DC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816216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CE09D5-8681-04F4-0AD1-7206C3FF5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EB62C8D-42BE-8DF8-DDA7-6DDCB238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14/11/2024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9F9D5C3-AD35-C818-D069-AB2D8EBBE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106A169-E84D-2DE1-E7CC-7058F9C00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45659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6EFFBE1-33C9-1D48-A916-7535B68EC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78E02A-26CF-6C46-A280-67C4AA0551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E7CDF9-2DDE-C04D-A9B9-78F138A1C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986248-06F7-A441-A47A-264EBD310E11}" type="datetimeFigureOut">
              <a:rPr lang="es-CO" smtClean="0"/>
              <a:t>14/11/2024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7570B4-267C-034E-B58B-04C03C9E55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41693D-7DB1-1144-97E3-85753EC9A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62609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7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utorialesprogramacionya.com/javaya/detalleconcepto.php?codigo=104&amp;punto=&amp;inicio=20" TargetMode="External"/><Relationship Id="rId3" Type="http://schemas.openxmlformats.org/officeDocument/2006/relationships/hyperlink" Target="https://blog.hubspot.es/website/que-es-objeto-java" TargetMode="External"/><Relationship Id="rId7" Type="http://schemas.openxmlformats.org/officeDocument/2006/relationships/hyperlink" Target="https://www.jairogarciarincon.com/clase/interfaces-de-usuario-con-java-swing/componentes-jframe-jlabel-y-jdialog-dialogos-modales" TargetMode="External"/><Relationship Id="rId2" Type="http://schemas.openxmlformats.org/officeDocument/2006/relationships/hyperlink" Target="https://chatgpt.com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fdi.ucm.es/profesor/jpavon/poo/tema6resumido.pdf" TargetMode="External"/><Relationship Id="rId5" Type="http://schemas.openxmlformats.org/officeDocument/2006/relationships/hyperlink" Target="https://docs.oracle.com/javase/tutorial/uiswing/components/combobox.html" TargetMode="External"/><Relationship Id="rId4" Type="http://schemas.openxmlformats.org/officeDocument/2006/relationships/hyperlink" Target="https://uneweb.edu.ve/tuto-docs/guia-mysql-1.pdf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015D167A-EE62-EA02-E6F4-53710691F485}"/>
              </a:ext>
            </a:extLst>
          </p:cNvPr>
          <p:cNvSpPr txBox="1"/>
          <p:nvPr/>
        </p:nvSpPr>
        <p:spPr>
          <a:xfrm>
            <a:off x="1039871" y="2365570"/>
            <a:ext cx="64536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4000" b="1" dirty="0">
                <a:solidFill>
                  <a:prstClr val="black">
                    <a:lumMod val="75000"/>
                    <a:lumOff val="25000"/>
                  </a:prstClr>
                </a:solidFill>
                <a:latin typeface="Work Sans Bold Roman" pitchFamily="2" charset="77"/>
              </a:rPr>
              <a:t>Software administrador </a:t>
            </a:r>
            <a:r>
              <a:rPr lang="es-ES" sz="4000" b="1" dirty="0" err="1">
                <a:solidFill>
                  <a:prstClr val="black">
                    <a:lumMod val="75000"/>
                    <a:lumOff val="25000"/>
                  </a:prstClr>
                </a:solidFill>
                <a:latin typeface="Work Sans Bold Roman" pitchFamily="2" charset="77"/>
              </a:rPr>
              <a:t>GigaGains</a:t>
            </a:r>
            <a:endParaRPr kumimoji="0" lang="es-ES" sz="40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Work Sans Bold Roman" pitchFamily="2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09726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1FEF253-53C4-B5FA-07C7-0B039B14F52F}"/>
              </a:ext>
            </a:extLst>
          </p:cNvPr>
          <p:cNvSpPr txBox="1"/>
          <p:nvPr/>
        </p:nvSpPr>
        <p:spPr>
          <a:xfrm>
            <a:off x="808566" y="2308651"/>
            <a:ext cx="1057486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6000" b="1" u="none" strike="noStrike" kern="1200" cap="none" spc="0" normalizeH="0" baseline="0" noProof="0" dirty="0">
                <a:ln>
                  <a:noFill/>
                </a:ln>
                <a:solidFill>
                  <a:srgbClr val="4D4D4C"/>
                </a:solidFill>
                <a:effectLst/>
                <a:uLnTx/>
                <a:uFillTx/>
                <a:latin typeface="WORK SANS BOLD ROMAN" pitchFamily="2" charset="77"/>
              </a:rPr>
              <a:t>Objetivos del Proyecto</a:t>
            </a:r>
            <a:endParaRPr kumimoji="0" lang="es-CO" sz="7200" b="1" u="none" strike="noStrike" kern="1200" cap="none" spc="0" normalizeH="0" baseline="0" noProof="0" dirty="0">
              <a:ln>
                <a:noFill/>
              </a:ln>
              <a:solidFill>
                <a:srgbClr val="4D4D4C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AE0C963B-97B4-4F66-1B49-0B47BC7F0F1A}"/>
              </a:ext>
            </a:extLst>
          </p:cNvPr>
          <p:cNvCxnSpPr>
            <a:cxnSpLocks/>
          </p:cNvCxnSpPr>
          <p:nvPr/>
        </p:nvCxnSpPr>
        <p:spPr>
          <a:xfrm>
            <a:off x="4972228" y="3324314"/>
            <a:ext cx="2247544" cy="0"/>
          </a:xfrm>
          <a:prstGeom prst="line">
            <a:avLst/>
          </a:prstGeom>
          <a:ln w="12700">
            <a:solidFill>
              <a:srgbClr val="38A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6473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CE75F1-F343-8856-BC69-4BB6B82BF3E4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defRPr/>
            </a:pPr>
            <a:r>
              <a:rPr lang="es-CO" sz="3600" b="1" dirty="0">
                <a:solidFill>
                  <a:srgbClr val="4D4D4C"/>
                </a:solidFill>
                <a:latin typeface="WORK SANS BOLD ROMAN" pitchFamily="2" charset="77"/>
              </a:rPr>
              <a:t>Descripción del problema 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solidFill>
                <a:srgbClr val="4D4D4C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6C31FC2-6C63-0CB9-C78D-1723D5E9DD66}"/>
              </a:ext>
            </a:extLst>
          </p:cNvPr>
          <p:cNvSpPr txBox="1"/>
          <p:nvPr/>
        </p:nvSpPr>
        <p:spPr>
          <a:xfrm>
            <a:off x="577563" y="1423906"/>
            <a:ext cx="11011925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00" dirty="0"/>
              <a:t>Actualmente, los entusiastas del fitness se enfrentan a varios desafíos al intentar gestionar su progreso y mantenerse motivados en su viaje de fitness. Entre estos</a:t>
            </a:r>
          </a:p>
          <a:p>
            <a:r>
              <a:rPr lang="es-ES" sz="1600" dirty="0"/>
              <a:t>desafíos se incluyen:</a:t>
            </a:r>
          </a:p>
          <a:p>
            <a:endParaRPr lang="es-ES" sz="1600" dirty="0"/>
          </a:p>
          <a:p>
            <a:r>
              <a:rPr lang="es-ES" sz="1600" dirty="0"/>
              <a:t>1. Falta de Herramientas Integradas: Muchas plataformas ofrecen solo una parte de la solución, lo que obliga a los usuarios a utilizar múltiples aplicaciones y servicios para gestionar diferentes aspectos de su fitness.</a:t>
            </a:r>
          </a:p>
          <a:p>
            <a:endParaRPr lang="es-ES" sz="1600" dirty="0"/>
          </a:p>
          <a:p>
            <a:r>
              <a:rPr lang="es-ES" sz="1600" dirty="0"/>
              <a:t>2. Complejidad y Confusión: Algunas aplicaciones existentes pueden ser difíciles de usar o carecer de la capacidad de personalización, lo que dificulta que los usuarios sigan sus planes de fitness de manera efectiva.</a:t>
            </a:r>
          </a:p>
          <a:p>
            <a:endParaRPr lang="es-ES" sz="1600" dirty="0"/>
          </a:p>
          <a:p>
            <a:endParaRPr lang="es-ES" sz="1600" dirty="0">
              <a:latin typeface="Work Sans Light Roman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9921456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CE75F1-F343-8856-BC69-4BB6B82BF3E4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defRPr/>
            </a:pPr>
            <a:r>
              <a:rPr lang="es-CO" sz="3600" b="1" dirty="0">
                <a:solidFill>
                  <a:srgbClr val="4D4D4C"/>
                </a:solidFill>
                <a:latin typeface="WORK SANS BOLD ROMAN" pitchFamily="2" charset="77"/>
              </a:rPr>
              <a:t>Descripción del la resolución  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6C31FC2-6C63-0CB9-C78D-1723D5E9DD66}"/>
              </a:ext>
            </a:extLst>
          </p:cNvPr>
          <p:cNvSpPr txBox="1"/>
          <p:nvPr/>
        </p:nvSpPr>
        <p:spPr>
          <a:xfrm>
            <a:off x="577563" y="1423906"/>
            <a:ext cx="551843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00" dirty="0">
                <a:latin typeface="Work Sans Light Roman" pitchFamily="2" charset="77"/>
              </a:rPr>
              <a:t>Una pagina web que permite ingresar a cualquier persona desde un navegador, creando una cuenta que permite llevar un control de comidas, entrenamientos y objetivos de cada usuario. También un software que permite administrar la base de datos que esta conectada a la pagina web para poder administrar planes, rutinas, circuitos, ejercicios y usuarios.</a:t>
            </a:r>
          </a:p>
        </p:txBody>
      </p:sp>
    </p:spTree>
    <p:extLst>
      <p:ext uri="{BB962C8B-B14F-4D97-AF65-F5344CB8AC3E}">
        <p14:creationId xmlns:p14="http://schemas.microsoft.com/office/powerpoint/2010/main" val="12623762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1FEF253-53C4-B5FA-07C7-0B039B14F52F}"/>
              </a:ext>
            </a:extLst>
          </p:cNvPr>
          <p:cNvSpPr txBox="1"/>
          <p:nvPr/>
        </p:nvSpPr>
        <p:spPr>
          <a:xfrm>
            <a:off x="808566" y="2308651"/>
            <a:ext cx="1057486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6000" b="1" u="none" strike="noStrike" kern="1200" cap="none" spc="0" normalizeH="0" baseline="0" noProof="0" dirty="0">
                <a:ln>
                  <a:noFill/>
                </a:ln>
                <a:solidFill>
                  <a:srgbClr val="4D4D4C"/>
                </a:solidFill>
                <a:effectLst/>
                <a:uLnTx/>
                <a:uFillTx/>
                <a:latin typeface="WORK SANS BOLD ROMAN" pitchFamily="2" charset="77"/>
              </a:rPr>
              <a:t>Tecnologías Utilizadas</a:t>
            </a:r>
            <a:endParaRPr kumimoji="0" lang="es-CO" sz="7200" b="1" u="none" strike="noStrike" kern="1200" cap="none" spc="0" normalizeH="0" baseline="0" noProof="0" dirty="0">
              <a:ln>
                <a:noFill/>
              </a:ln>
              <a:solidFill>
                <a:srgbClr val="4D4D4C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AE0C963B-97B4-4F66-1B49-0B47BC7F0F1A}"/>
              </a:ext>
            </a:extLst>
          </p:cNvPr>
          <p:cNvCxnSpPr>
            <a:cxnSpLocks/>
          </p:cNvCxnSpPr>
          <p:nvPr/>
        </p:nvCxnSpPr>
        <p:spPr>
          <a:xfrm>
            <a:off x="4972228" y="3324314"/>
            <a:ext cx="2247544" cy="0"/>
          </a:xfrm>
          <a:prstGeom prst="line">
            <a:avLst/>
          </a:prstGeom>
          <a:ln w="12700">
            <a:solidFill>
              <a:srgbClr val="38A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5674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A6C31FC2-6C63-0CB9-C78D-1723D5E9DD66}"/>
              </a:ext>
            </a:extLst>
          </p:cNvPr>
          <p:cNvSpPr txBox="1"/>
          <p:nvPr/>
        </p:nvSpPr>
        <p:spPr>
          <a:xfrm>
            <a:off x="577563" y="1423906"/>
            <a:ext cx="551843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Work Sans Light Roman" pitchFamily="2" charset="77"/>
              </a:rPr>
              <a:t>Para el desarrollo de este proyecto se utilizaron los siguientes</a:t>
            </a:r>
            <a:endParaRPr lang="es-CO" sz="1600" dirty="0"/>
          </a:p>
          <a:p>
            <a:endParaRPr lang="es-CO" sz="1600" dirty="0">
              <a:latin typeface="Work Sans Light Roman" pitchFamily="2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600" b="1" dirty="0">
                <a:latin typeface="Work Sans Light Roman" pitchFamily="2" charset="77"/>
              </a:rPr>
              <a:t>Apache NetBeans IDE 23: </a:t>
            </a:r>
            <a:r>
              <a:rPr lang="es-CO" sz="1600" dirty="0">
                <a:latin typeface="Work Sans Light Roman" pitchFamily="2" charset="77"/>
              </a:rPr>
              <a:t>Entorno de desarrollo donde se codifico el aplicativo</a:t>
            </a:r>
            <a:endParaRPr lang="es-CO" sz="1600" b="1" dirty="0">
              <a:latin typeface="Work Sans Light Roman" pitchFamily="2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b="1" dirty="0">
                <a:latin typeface="Work Sans Light Roman" pitchFamily="2" charset="77"/>
              </a:rPr>
              <a:t>XAMPP Control Panel v3.3.0: </a:t>
            </a:r>
            <a:r>
              <a:rPr lang="es-ES" sz="1600" dirty="0">
                <a:latin typeface="Work Sans Light Roman" pitchFamily="2" charset="77"/>
              </a:rPr>
              <a:t>Usado para la base de datos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600" dirty="0">
              <a:latin typeface="Work Sans Light Roman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338784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1FEF253-53C4-B5FA-07C7-0B039B14F52F}"/>
              </a:ext>
            </a:extLst>
          </p:cNvPr>
          <p:cNvSpPr txBox="1"/>
          <p:nvPr/>
        </p:nvSpPr>
        <p:spPr>
          <a:xfrm>
            <a:off x="1388533" y="2238946"/>
            <a:ext cx="941493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6000" b="1" dirty="0">
                <a:solidFill>
                  <a:srgbClr val="4D4D4C"/>
                </a:solidFill>
                <a:latin typeface="WORK SANS BOLD ROMAN" pitchFamily="2" charset="77"/>
              </a:rPr>
              <a:t>Requerimientos Funcionales</a:t>
            </a:r>
            <a:endParaRPr kumimoji="0" lang="es-CO" sz="7200" b="1" u="none" strike="noStrike" kern="1200" cap="none" spc="0" normalizeH="0" baseline="0" noProof="0" dirty="0">
              <a:ln>
                <a:noFill/>
              </a:ln>
              <a:solidFill>
                <a:srgbClr val="4D4D4C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AE0C963B-97B4-4F66-1B49-0B47BC7F0F1A}"/>
              </a:ext>
            </a:extLst>
          </p:cNvPr>
          <p:cNvCxnSpPr>
            <a:cxnSpLocks/>
          </p:cNvCxnSpPr>
          <p:nvPr/>
        </p:nvCxnSpPr>
        <p:spPr>
          <a:xfrm>
            <a:off x="4972228" y="3324314"/>
            <a:ext cx="2247544" cy="0"/>
          </a:xfrm>
          <a:prstGeom prst="line">
            <a:avLst/>
          </a:prstGeom>
          <a:ln w="12700">
            <a:solidFill>
              <a:srgbClr val="38A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9388A4DF-720D-E501-986E-D50B788D2F61}"/>
              </a:ext>
            </a:extLst>
          </p:cNvPr>
          <p:cNvSpPr txBox="1"/>
          <p:nvPr/>
        </p:nvSpPr>
        <p:spPr>
          <a:xfrm>
            <a:off x="4168816" y="3463724"/>
            <a:ext cx="38543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 Light Roman" pitchFamily="2" charset="77"/>
                <a:ea typeface="+mn-ea"/>
                <a:cs typeface="+mn-cs"/>
              </a:rPr>
              <a:t>Presentes en </a:t>
            </a:r>
            <a:r>
              <a:rPr lang="es-CO" sz="1600" dirty="0">
                <a:solidFill>
                  <a:prstClr val="black"/>
                </a:solidFill>
                <a:latin typeface="Work Sans Light Roman" pitchFamily="2" charset="77"/>
              </a:rPr>
              <a:t>software administrador</a:t>
            </a:r>
            <a:endParaRPr kumimoji="0" lang="es-CO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 Light Roman" pitchFamily="2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11428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CE75F1-F343-8856-BC69-4BB6B82BF3E4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defRPr/>
            </a:pPr>
            <a:r>
              <a:rPr lang="es-CO" sz="3600" b="1" dirty="0">
                <a:solidFill>
                  <a:srgbClr val="4D4D4C"/>
                </a:solidFill>
                <a:latin typeface="WORK SANS BOLD ROMAN" pitchFamily="2" charset="77"/>
              </a:rPr>
              <a:t>Vista </a:t>
            </a:r>
            <a:r>
              <a:rPr lang="es-CO" sz="3600" b="1" dirty="0" err="1">
                <a:solidFill>
                  <a:srgbClr val="4D4D4C"/>
                </a:solidFill>
                <a:latin typeface="WORK SANS BOLD ROMAN" pitchFamily="2" charset="77"/>
              </a:rPr>
              <a:t>Login</a:t>
            </a:r>
            <a:r>
              <a:rPr lang="es-CO" sz="3600" b="1" dirty="0">
                <a:solidFill>
                  <a:srgbClr val="4D4D4C"/>
                </a:solidFill>
                <a:latin typeface="WORK SANS BOLD ROMAN" pitchFamily="2" charset="77"/>
              </a:rPr>
              <a:t> del administrador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solidFill>
                <a:srgbClr val="4D4D4C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6C31FC2-6C63-0CB9-C78D-1723D5E9DD66}"/>
              </a:ext>
            </a:extLst>
          </p:cNvPr>
          <p:cNvSpPr txBox="1"/>
          <p:nvPr/>
        </p:nvSpPr>
        <p:spPr>
          <a:xfrm>
            <a:off x="1810902" y="1889573"/>
            <a:ext cx="763789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El sistema debe autenticar a los usuarios utilizando un nombre de usuario y una contraseña provenientes de la base de datos.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El sistema debe verificar las credenciales contra la base de datos antes de permitir el acceso.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Los usuarios deben ser redirigidos a la pantalla principal tras un </a:t>
            </a:r>
            <a:r>
              <a:rPr lang="es-ES" sz="2000" dirty="0" err="1"/>
              <a:t>login</a:t>
            </a:r>
            <a:r>
              <a:rPr lang="es-ES" sz="2000" dirty="0"/>
              <a:t> exitoso.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El sistema debe mostrar mensajes de error si las credenciales son incorrectas.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dirty="0">
              <a:latin typeface="Work Sans Light Roman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58058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DFBB1-D500-4C37-6659-DEDEBD120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484F97-0579-07D3-A0F7-ED0540A0595C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defRPr/>
            </a:pPr>
            <a:r>
              <a:rPr lang="es-CO" sz="3600" b="1" dirty="0">
                <a:solidFill>
                  <a:srgbClr val="4D4D4C"/>
                </a:solidFill>
                <a:latin typeface="WORK SANS BOLD ROMAN" pitchFamily="2" charset="77"/>
              </a:rPr>
              <a:t>Vista Circuito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solidFill>
                <a:srgbClr val="4D4D4C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EF446E8-C5E0-8992-43C6-55C79CEFBDB1}"/>
              </a:ext>
            </a:extLst>
          </p:cNvPr>
          <p:cNvSpPr txBox="1"/>
          <p:nvPr/>
        </p:nvSpPr>
        <p:spPr>
          <a:xfrm>
            <a:off x="1810902" y="1889573"/>
            <a:ext cx="7637898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El sistema debe permitir crear, leer, actualizar y eliminar (CRUD) circuitos.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Los circuitos deben ser seleccionables desde la tabla para ser editados o eliminados.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>
                <a:latin typeface="Work Sans Light Roman" pitchFamily="2" charset="77"/>
              </a:rPr>
              <a:t>El sistema debe permitir listar en combo box los circuitos para ser listados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>
                <a:latin typeface="Work Sans Light Roman" pitchFamily="2" charset="77"/>
              </a:rPr>
              <a:t>El sistema debe permitir crear, leer, actualizar y eliminar los ejercicios emparejados al circuito.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>
                <a:latin typeface="Work Sans Light Roman" pitchFamily="2" charset="77"/>
              </a:rPr>
              <a:t>Los ejercicios emparejados al circuito deben ser seleccionables desde la tabla para ser editados o eliminados.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La interfaz debe permitir cancelar una acción en proceso (crear o editar un circuito).</a:t>
            </a:r>
            <a:endParaRPr lang="es-ES" sz="2000" dirty="0">
              <a:latin typeface="Work Sans Light Roman" pitchFamily="2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dirty="0">
              <a:latin typeface="Work Sans Light Roman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6007064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03FA3-5C7C-B3D5-9801-25C2D7C05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ECE5EE-E1BF-E2AC-B369-579AE6724C01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defRPr/>
            </a:pPr>
            <a:r>
              <a:rPr lang="es-CO" sz="3600" b="1" dirty="0">
                <a:solidFill>
                  <a:srgbClr val="4D4D4C"/>
                </a:solidFill>
                <a:latin typeface="WORK SANS BOLD ROMAN" pitchFamily="2" charset="77"/>
              </a:rPr>
              <a:t>Vista Ejercicios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solidFill>
                <a:srgbClr val="4D4D4C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B065862-E189-B609-F8F4-785B09DD2A78}"/>
              </a:ext>
            </a:extLst>
          </p:cNvPr>
          <p:cNvSpPr txBox="1"/>
          <p:nvPr/>
        </p:nvSpPr>
        <p:spPr>
          <a:xfrm>
            <a:off x="1810902" y="1889573"/>
            <a:ext cx="763789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El sistema debe permitir crear, leer, actualizar y eliminar ejercicios.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Los ejercicios deben estar listados en una tabla para que el administrador pueda visualizarlos.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Los ejercicios deben ser seleccionables desde la tabla para ser editados o eliminados.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La interfaz debe permitir cancelar una acción en proceso.</a:t>
            </a:r>
            <a:endParaRPr lang="es-ES" sz="2000" dirty="0">
              <a:latin typeface="Work Sans Light Roman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680742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B1FC7-45EC-7A92-5EAA-65182D6BE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9E36DB-3F02-ACE9-B590-FE9837542CF9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defRPr/>
            </a:pPr>
            <a:r>
              <a:rPr lang="es-CO" sz="3600" b="1" dirty="0">
                <a:solidFill>
                  <a:srgbClr val="4D4D4C"/>
                </a:solidFill>
                <a:latin typeface="WORK SANS BOLD ROMAN" pitchFamily="2" charset="77"/>
              </a:rPr>
              <a:t>Vista Rutina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solidFill>
                <a:srgbClr val="4D4D4C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2C88092-6350-C94C-EBB6-EF6CD170A48B}"/>
              </a:ext>
            </a:extLst>
          </p:cNvPr>
          <p:cNvSpPr txBox="1"/>
          <p:nvPr/>
        </p:nvSpPr>
        <p:spPr>
          <a:xfrm>
            <a:off x="1810902" y="1889573"/>
            <a:ext cx="763789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El sistema debe permitir crear, leer, actualizar y eliminar (CRUD) rutinas.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Las rutinas deben ser seleccionables desde la tabla para ser editados o eliminados.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>
                <a:latin typeface="Work Sans Light Roman" pitchFamily="2" charset="77"/>
              </a:rPr>
              <a:t>El sistema debe permitir listar en combo box las rutinas para ser listadas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>
                <a:latin typeface="Work Sans Light Roman" pitchFamily="2" charset="77"/>
              </a:rPr>
              <a:t>El sistema debe permitir crear, leer, actualizar y eliminar los circuitos emparejados a la rutina.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>
                <a:latin typeface="Work Sans Light Roman" pitchFamily="2" charset="77"/>
              </a:rPr>
              <a:t>Los circuitos emparejados a la rutina deben ser seleccionables desde la tabla para ser editados o eliminados.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La interfaz debe permitir cancelar una acción en proceso (crear o editar un circuito).</a:t>
            </a:r>
            <a:endParaRPr lang="es-ES" sz="2000" dirty="0">
              <a:latin typeface="Work Sans Light Roman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981792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FD704-06F6-C7C2-5BFC-374B147CE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2C282B-CE6F-51D7-F681-0325559B9921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defRPr/>
            </a:pPr>
            <a:r>
              <a:rPr lang="es-CO" sz="3600" b="1" dirty="0">
                <a:solidFill>
                  <a:srgbClr val="4D4D4C"/>
                </a:solidFill>
                <a:latin typeface="WORK SANS BOLD ROMAN" pitchFamily="2" charset="77"/>
              </a:rPr>
              <a:t>Vista Usuario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solidFill>
                <a:srgbClr val="4D4D4C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F868EC8-2558-E62E-AA93-8AAB5CF8F7FF}"/>
              </a:ext>
            </a:extLst>
          </p:cNvPr>
          <p:cNvSpPr txBox="1"/>
          <p:nvPr/>
        </p:nvSpPr>
        <p:spPr>
          <a:xfrm>
            <a:off x="1810902" y="1889573"/>
            <a:ext cx="763789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El sistema debe permitir leer, actualizar y eliminar usuarios.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Los usuarios deben estar listadas en una tabla para que los administrador puedan visualizarlos.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Los usuarios deben ser seleccionables desde la tabla para ser editados o eliminados.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La interfaz debe permitir cancelar una acción en proceso.</a:t>
            </a:r>
            <a:endParaRPr lang="es-ES" sz="2000" dirty="0">
              <a:latin typeface="Work Sans Light Roman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8057208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FC8C8-A172-7ABF-DD96-5C77F4D91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5E9FF4-D509-2340-F5A0-FC1C63EF29B6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defRPr/>
            </a:pPr>
            <a:r>
              <a:rPr lang="es-CO" sz="3600" b="1" dirty="0">
                <a:solidFill>
                  <a:srgbClr val="4D4D4C"/>
                </a:solidFill>
                <a:latin typeface="WORK SANS BOLD ROMAN" pitchFamily="2" charset="77"/>
              </a:rPr>
              <a:t>Vista Plan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solidFill>
                <a:srgbClr val="4D4D4C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702FF4B-5FFA-A3A0-04A8-C3FA2F5C07E2}"/>
              </a:ext>
            </a:extLst>
          </p:cNvPr>
          <p:cNvSpPr txBox="1"/>
          <p:nvPr/>
        </p:nvSpPr>
        <p:spPr>
          <a:xfrm>
            <a:off x="1810902" y="1889573"/>
            <a:ext cx="763789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El sistema debe permitir leer, actualizar y eliminar planes.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Los planes deben estar listadas en una tabla para que los administrador puedan visualizarlos.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Los planes deben ser seleccionables desde la tabla para ser editados o eliminados.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La interfaz debe permitir cancelar una acción en proceso.</a:t>
            </a:r>
            <a:endParaRPr lang="es-ES" sz="2000" dirty="0">
              <a:latin typeface="Work Sans Light Roman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5818775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1FEF253-53C4-B5FA-07C7-0B039B14F52F}"/>
              </a:ext>
            </a:extLst>
          </p:cNvPr>
          <p:cNvSpPr txBox="1"/>
          <p:nvPr/>
        </p:nvSpPr>
        <p:spPr>
          <a:xfrm>
            <a:off x="808566" y="2308651"/>
            <a:ext cx="1057486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6000" b="1" dirty="0">
                <a:solidFill>
                  <a:srgbClr val="4D4D4C"/>
                </a:solidFill>
                <a:latin typeface="WORK SANS BOLD ROMAN" pitchFamily="2" charset="77"/>
              </a:rPr>
              <a:t>Requerimientos No Funcionales</a:t>
            </a:r>
            <a:endParaRPr kumimoji="0" lang="es-CO" sz="7200" b="1" u="none" strike="noStrike" kern="1200" cap="none" spc="0" normalizeH="0" baseline="0" noProof="0" dirty="0">
              <a:ln>
                <a:noFill/>
              </a:ln>
              <a:solidFill>
                <a:srgbClr val="4D4D4C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AE0C963B-97B4-4F66-1B49-0B47BC7F0F1A}"/>
              </a:ext>
            </a:extLst>
          </p:cNvPr>
          <p:cNvCxnSpPr>
            <a:cxnSpLocks/>
          </p:cNvCxnSpPr>
          <p:nvPr/>
        </p:nvCxnSpPr>
        <p:spPr>
          <a:xfrm>
            <a:off x="4972228" y="3324314"/>
            <a:ext cx="2247544" cy="0"/>
          </a:xfrm>
          <a:prstGeom prst="line">
            <a:avLst/>
          </a:prstGeom>
          <a:ln w="12700">
            <a:solidFill>
              <a:srgbClr val="38A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9388A4DF-720D-E501-986E-D50B788D2F61}"/>
              </a:ext>
            </a:extLst>
          </p:cNvPr>
          <p:cNvSpPr txBox="1"/>
          <p:nvPr/>
        </p:nvSpPr>
        <p:spPr>
          <a:xfrm>
            <a:off x="4168816" y="3463724"/>
            <a:ext cx="38543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 Light Roman" pitchFamily="2" charset="77"/>
                <a:ea typeface="+mn-ea"/>
                <a:cs typeface="+mn-cs"/>
              </a:rPr>
              <a:t>Presentes en este </a:t>
            </a:r>
            <a:r>
              <a:rPr lang="es-CO" sz="1600" dirty="0">
                <a:solidFill>
                  <a:prstClr val="black"/>
                </a:solidFill>
                <a:latin typeface="Work Sans Light Roman" pitchFamily="2" charset="77"/>
              </a:rPr>
              <a:t>software</a:t>
            </a:r>
            <a:endParaRPr kumimoji="0" lang="es-CO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 Light Roman" pitchFamily="2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586299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AC642-0654-A4C9-803D-381AF2032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130B87-73F4-31D9-4834-16F9802353FF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defRPr/>
            </a:pPr>
            <a:r>
              <a:rPr lang="es-CO" sz="3600" b="1" dirty="0">
                <a:solidFill>
                  <a:srgbClr val="4D4D4C"/>
                </a:solidFill>
                <a:latin typeface="WORK SANS BOLD ROMAN" pitchFamily="2" charset="77"/>
              </a:rPr>
              <a:t>Requerimientos no funcionales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solidFill>
                <a:srgbClr val="4D4D4C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CDA4D8A-FAC8-5E62-A2DF-1F1B252688AB}"/>
              </a:ext>
            </a:extLst>
          </p:cNvPr>
          <p:cNvSpPr txBox="1"/>
          <p:nvPr/>
        </p:nvSpPr>
        <p:spPr>
          <a:xfrm>
            <a:off x="456236" y="1158252"/>
            <a:ext cx="11279528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Debe haber un manejo adecuado de las sesiones para evitar accesos no autorizados.</a:t>
            </a:r>
          </a:p>
          <a:p>
            <a:endParaRPr lang="es-E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La interfaz gráfica debe ser intuitiva y fácil de usar.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Los campos solo deben recibir datos del tipo permitido (números y/o letras).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Las operaciones CRUD deben estar modularizadas.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dirty="0">
              <a:latin typeface="Work Sans Light Roman" pitchFamily="2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>
                <a:latin typeface="Work Sans Light Roman" pitchFamily="2" charset="77"/>
              </a:rPr>
              <a:t>Capacitación necesaria para la buena usabilidad del software.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dirty="0">
              <a:latin typeface="Work Sans Light Roman" pitchFamily="2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dirty="0">
              <a:latin typeface="Work Sans Light Roman" pitchFamily="2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dirty="0">
              <a:latin typeface="Work Sans Light Roman" pitchFamily="2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738593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1FEF253-53C4-B5FA-07C7-0B039B14F52F}"/>
              </a:ext>
            </a:extLst>
          </p:cNvPr>
          <p:cNvSpPr txBox="1"/>
          <p:nvPr/>
        </p:nvSpPr>
        <p:spPr>
          <a:xfrm>
            <a:off x="808566" y="2308651"/>
            <a:ext cx="1057486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6000" b="1" dirty="0">
                <a:solidFill>
                  <a:srgbClr val="4D4D4C"/>
                </a:solidFill>
                <a:latin typeface="WORK SANS BOLD ROMAN" pitchFamily="2" charset="77"/>
              </a:rPr>
              <a:t>Base de datos</a:t>
            </a:r>
            <a:endParaRPr kumimoji="0" lang="es-CO" sz="7200" b="1" u="none" strike="noStrike" kern="1200" cap="none" spc="0" normalizeH="0" baseline="0" noProof="0" dirty="0">
              <a:ln>
                <a:noFill/>
              </a:ln>
              <a:solidFill>
                <a:srgbClr val="4D4D4C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AE0C963B-97B4-4F66-1B49-0B47BC7F0F1A}"/>
              </a:ext>
            </a:extLst>
          </p:cNvPr>
          <p:cNvCxnSpPr>
            <a:cxnSpLocks/>
          </p:cNvCxnSpPr>
          <p:nvPr/>
        </p:nvCxnSpPr>
        <p:spPr>
          <a:xfrm>
            <a:off x="4972228" y="3324314"/>
            <a:ext cx="2247544" cy="0"/>
          </a:xfrm>
          <a:prstGeom prst="line">
            <a:avLst/>
          </a:prstGeom>
          <a:ln w="12700">
            <a:solidFill>
              <a:srgbClr val="38A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880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CE75F1-F343-8856-BC69-4BB6B82BF3E4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defRPr/>
            </a:pPr>
            <a:r>
              <a:rPr lang="es-CO" sz="3600" b="1" dirty="0">
                <a:solidFill>
                  <a:srgbClr val="4D4D4C"/>
                </a:solidFill>
                <a:latin typeface="WORK SANS BOLD ROMAN" pitchFamily="2" charset="77"/>
              </a:rPr>
              <a:t>Diagramado de Base de datos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solidFill>
                <a:srgbClr val="4D4D4C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F9DDEE4-6EBD-41A3-B90F-6F95C10C4F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866" y="1225984"/>
            <a:ext cx="11108267" cy="5279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055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35BFFB67-C3D4-337D-C327-AB25D270EADA}"/>
              </a:ext>
            </a:extLst>
          </p:cNvPr>
          <p:cNvSpPr txBox="1"/>
          <p:nvPr/>
        </p:nvSpPr>
        <p:spPr>
          <a:xfrm>
            <a:off x="4185162" y="2623935"/>
            <a:ext cx="382168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6000" b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WORK SANS BOLD ROMAN" pitchFamily="2" charset="77"/>
              </a:rPr>
              <a:t>Bibliografía</a:t>
            </a:r>
            <a:endParaRPr kumimoji="0" lang="es-CO" sz="7200" b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38CE8666-1D2A-4D01-34E5-54FD74A39FC0}"/>
              </a:ext>
            </a:extLst>
          </p:cNvPr>
          <p:cNvCxnSpPr>
            <a:cxnSpLocks/>
          </p:cNvCxnSpPr>
          <p:nvPr/>
        </p:nvCxnSpPr>
        <p:spPr>
          <a:xfrm>
            <a:off x="5013630" y="3555133"/>
            <a:ext cx="2247544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91846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6D270-413B-35DB-E1BC-30115C094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CC1F9F-73F9-402E-E097-89DE62AA5944}"/>
              </a:ext>
            </a:extLst>
          </p:cNvPr>
          <p:cNvSpPr txBox="1">
            <a:spLocks/>
          </p:cNvSpPr>
          <p:nvPr/>
        </p:nvSpPr>
        <p:spPr>
          <a:xfrm>
            <a:off x="447769" y="24734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defRPr/>
            </a:pPr>
            <a:r>
              <a:rPr lang="es-CO" sz="3600" b="1" dirty="0">
                <a:solidFill>
                  <a:srgbClr val="4D4D4C"/>
                </a:solidFill>
                <a:latin typeface="WORK SANS BOLD ROMAN" pitchFamily="2" charset="77"/>
              </a:rPr>
              <a:t>Bibliografía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solidFill>
                <a:srgbClr val="4D4D4C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A2F5B55-C7E4-FB44-5A54-78117A076BDC}"/>
              </a:ext>
            </a:extLst>
          </p:cNvPr>
          <p:cNvSpPr txBox="1"/>
          <p:nvPr/>
        </p:nvSpPr>
        <p:spPr>
          <a:xfrm>
            <a:off x="447769" y="988912"/>
            <a:ext cx="11279528" cy="6217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i="1" dirty="0"/>
              <a:t>ChatGPT</a:t>
            </a:r>
            <a:r>
              <a:rPr lang="es-ES" dirty="0"/>
              <a:t>. (s/f). Chatgpt.com. Recuperado el 14 de noviembre de 2024, de </a:t>
            </a:r>
            <a:r>
              <a:rPr lang="es-ES" dirty="0">
                <a:hlinkClick r:id="rId2"/>
              </a:rPr>
              <a:t>https://chatgpt.com/</a:t>
            </a:r>
            <a:endParaRPr lang="es-ES" dirty="0"/>
          </a:p>
          <a:p>
            <a:endParaRPr lang="es-ES" dirty="0"/>
          </a:p>
          <a:p>
            <a:r>
              <a:rPr lang="es-ES" dirty="0"/>
              <a:t>Durán, M. (2022, diciembre 5). </a:t>
            </a:r>
            <a:r>
              <a:rPr lang="es-ES" i="1" dirty="0"/>
              <a:t>Qué es un objeto en Java, cuáles son sus elementos y cómo crearlo</a:t>
            </a:r>
            <a:r>
              <a:rPr lang="es-ES" dirty="0"/>
              <a:t>. Hubspot.es. </a:t>
            </a:r>
            <a:r>
              <a:rPr lang="es-ES" dirty="0">
                <a:hlinkClick r:id="rId3"/>
              </a:rPr>
              <a:t>https://blog.hubspot.es/website/que-es-objeto-java</a:t>
            </a:r>
            <a:endParaRPr lang="es-ES" dirty="0"/>
          </a:p>
          <a:p>
            <a:endParaRPr lang="es-ES" dirty="0"/>
          </a:p>
          <a:p>
            <a:r>
              <a:rPr lang="es-ES" i="1" dirty="0"/>
              <a:t>Guía de MySQL</a:t>
            </a:r>
            <a:r>
              <a:rPr lang="es-ES" dirty="0"/>
              <a:t>. (s/f). Edu.ve. Recuperado el 14 de noviembre de 2024, de </a:t>
            </a:r>
            <a:r>
              <a:rPr lang="es-ES" dirty="0">
                <a:hlinkClick r:id="rId4"/>
              </a:rPr>
              <a:t>https://uneweb.edu.ve/tuto-docs/guia-mysql-1.pdf</a:t>
            </a:r>
            <a:endParaRPr lang="es-ES" dirty="0"/>
          </a:p>
          <a:p>
            <a:endParaRPr lang="es-ES" dirty="0"/>
          </a:p>
          <a:p>
            <a:r>
              <a:rPr lang="es-ES" i="1" dirty="0" err="1"/>
              <a:t>How</a:t>
            </a:r>
            <a:r>
              <a:rPr lang="es-ES" i="1" dirty="0"/>
              <a:t> </a:t>
            </a:r>
            <a:r>
              <a:rPr lang="es-ES" i="1" dirty="0" err="1"/>
              <a:t>to</a:t>
            </a:r>
            <a:r>
              <a:rPr lang="es-ES" i="1" dirty="0"/>
              <a:t> use combo boxes</a:t>
            </a:r>
            <a:r>
              <a:rPr lang="es-ES" dirty="0"/>
              <a:t>. (s/f). Oracle.com. Recuperado el 14 de noviembre de 2024, de </a:t>
            </a:r>
            <a:r>
              <a:rPr lang="es-ES" dirty="0">
                <a:hlinkClick r:id="rId5"/>
              </a:rPr>
              <a:t>https://docs.oracle.com/javase/tutorial/uiswing/components/combobox.html</a:t>
            </a:r>
            <a:endParaRPr lang="es-ES" dirty="0"/>
          </a:p>
          <a:p>
            <a:endParaRPr lang="es-ES" dirty="0"/>
          </a:p>
          <a:p>
            <a:r>
              <a:rPr lang="es-ES" i="1" dirty="0"/>
              <a:t>P.O.O — Tema 6 — Interfaces gráficas de usuario Carlos Cervigón</a:t>
            </a:r>
            <a:r>
              <a:rPr lang="es-ES" dirty="0"/>
              <a:t>. (s/f). Ucm.es. Recuperado el 14 de noviembre de 2024, de </a:t>
            </a:r>
            <a:r>
              <a:rPr lang="es-ES" dirty="0">
                <a:hlinkClick r:id="rId6"/>
              </a:rPr>
              <a:t>https://www.fdi.ucm.es/profesor/jpavon/poo/tema6resumido.pdf</a:t>
            </a:r>
            <a:endParaRPr lang="es-ES" dirty="0"/>
          </a:p>
          <a:p>
            <a:endParaRPr lang="es-ES" dirty="0"/>
          </a:p>
          <a:p>
            <a:r>
              <a:rPr lang="es-ES" dirty="0"/>
              <a:t>Rincón, J. G. (s/f). </a:t>
            </a:r>
            <a:r>
              <a:rPr lang="es-ES" i="1" dirty="0"/>
              <a:t>Jairo García Rincón</a:t>
            </a:r>
            <a:r>
              <a:rPr lang="es-ES" dirty="0"/>
              <a:t>. Jairogarciarincon.com. Recuperado el 14 de noviembre de 2024, de </a:t>
            </a:r>
            <a:r>
              <a:rPr lang="es-ES" dirty="0">
                <a:hlinkClick r:id="rId7"/>
              </a:rPr>
              <a:t>https://www.jairogarciarincon.com/clase/interfaces-de-usuario-con-java-swing/componentes-jframe-jlabel-y-jdialog-dialogos-modales</a:t>
            </a:r>
            <a:endParaRPr lang="es-ES" dirty="0"/>
          </a:p>
          <a:p>
            <a:endParaRPr lang="es-ES" dirty="0"/>
          </a:p>
          <a:p>
            <a:r>
              <a:rPr lang="es-ES" i="1" dirty="0"/>
              <a:t>Swing - JFrame</a:t>
            </a:r>
            <a:r>
              <a:rPr lang="es-ES" dirty="0"/>
              <a:t>. (s/f). Tutorialesprogramacionya.com. Recuperado el 14 de noviembre de 2024, de </a:t>
            </a:r>
            <a:r>
              <a:rPr lang="es-ES" dirty="0">
                <a:hlinkClick r:id="rId8"/>
              </a:rPr>
              <a:t>https://www.tutorialesprogramacionya.com/javaya/detalleconcepto.php?codigo=104&amp;punto=&amp;inicio=20</a:t>
            </a:r>
            <a:endParaRPr lang="es-ES" dirty="0"/>
          </a:p>
          <a:p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10958451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462668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4070</TotalTime>
  <Words>1003</Words>
  <Application>Microsoft Office PowerPoint</Application>
  <PresentationFormat>Panorámica</PresentationFormat>
  <Paragraphs>83</Paragraphs>
  <Slides>20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7" baseType="lpstr">
      <vt:lpstr>Arial</vt:lpstr>
      <vt:lpstr>Calibri</vt:lpstr>
      <vt:lpstr>Calibri Light</vt:lpstr>
      <vt:lpstr>Work Sans Bold Roman</vt:lpstr>
      <vt:lpstr>Work Sans Bold Roman</vt:lpstr>
      <vt:lpstr>Work Sans Light Roman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Jorge Enrique Pedraza Sanchez</dc:creator>
  <cp:lastModifiedBy>Propietario</cp:lastModifiedBy>
  <cp:revision>82</cp:revision>
  <dcterms:created xsi:type="dcterms:W3CDTF">2020-10-01T23:51:28Z</dcterms:created>
  <dcterms:modified xsi:type="dcterms:W3CDTF">2024-11-14T14:57:16Z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299739c-ad3d-4908-806e-4d91151a6e13_Enabled">
    <vt:lpwstr>true</vt:lpwstr>
  </property>
  <property fmtid="{D5CDD505-2E9C-101B-9397-08002B2CF9AE}" pid="3" name="MSIP_Label_1299739c-ad3d-4908-806e-4d91151a6e13_Method">
    <vt:lpwstr>Standard</vt:lpwstr>
  </property>
  <property fmtid="{D5CDD505-2E9C-101B-9397-08002B2CF9AE}" pid="4" name="MSIP_Label_1299739c-ad3d-4908-806e-4d91151a6e13_Name">
    <vt:lpwstr>All Employees (Unrestricted)</vt:lpwstr>
  </property>
  <property fmtid="{D5CDD505-2E9C-101B-9397-08002B2CF9AE}" pid="5" name="MSIP_Label_1299739c-ad3d-4908-806e-4d91151a6e13_SiteId">
    <vt:lpwstr>cbc2c381-2f2e-4d93-91d1-506c9316ace7</vt:lpwstr>
  </property>
  <property fmtid="{D5CDD505-2E9C-101B-9397-08002B2CF9AE}" pid="6" name="MSIP_Label_1299739c-ad3d-4908-806e-4d91151a6e13_ContentBits">
    <vt:lpwstr>0</vt:lpwstr>
  </property>
  <property fmtid="{D5CDD505-2E9C-101B-9397-08002B2CF9AE}" pid="7" name="MSIP_Label_1299739c-ad3d-4908-806e-4d91151a6e13_SetDate">
    <vt:lpwstr>2022-08-12T19:17:55Z</vt:lpwstr>
  </property>
  <property fmtid="{D5CDD505-2E9C-101B-9397-08002B2CF9AE}" pid="8" name="MSIP_Label_1299739c-ad3d-4908-806e-4d91151a6e13_ActionId">
    <vt:lpwstr>8c6bc714-34a9-4b82-914e-50b1377a2da4</vt:lpwstr>
  </property>
</Properties>
</file>