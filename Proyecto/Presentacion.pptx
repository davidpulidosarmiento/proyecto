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handoutMasterIdLst>
    <p:handoutMasterId r:id="rId20"/>
  </p:handoutMasterIdLst>
  <p:sldIdLst>
    <p:sldId id="538" r:id="rId2"/>
    <p:sldId id="552" r:id="rId3"/>
    <p:sldId id="554" r:id="rId4"/>
    <p:sldId id="556" r:id="rId5"/>
    <p:sldId id="573" r:id="rId6"/>
    <p:sldId id="574" r:id="rId7"/>
    <p:sldId id="558" r:id="rId8"/>
    <p:sldId id="562" r:id="rId9"/>
    <p:sldId id="535" r:id="rId10"/>
    <p:sldId id="575" r:id="rId11"/>
    <p:sldId id="546" r:id="rId12"/>
    <p:sldId id="571" r:id="rId13"/>
    <p:sldId id="550" r:id="rId14"/>
    <p:sldId id="551" r:id="rId15"/>
    <p:sldId id="541" r:id="rId16"/>
    <p:sldId id="572" r:id="rId17"/>
    <p:sldId id="531" r:id="rId18"/>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95" userDrawn="1">
          <p15:clr>
            <a:srgbClr val="A4A3A4"/>
          </p15:clr>
        </p15:guide>
        <p15:guide id="2" pos="3840" userDrawn="1">
          <p15:clr>
            <a:srgbClr val="A4A3A4"/>
          </p15:clr>
        </p15:guide>
        <p15:guide id="3" orient="horz" pos="187"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C"/>
    <a:srgbClr val="343433"/>
    <a:srgbClr val="FF6C00"/>
    <a:srgbClr val="38AA00"/>
    <a:srgbClr val="766363"/>
    <a:srgbClr val="FFF5EA"/>
    <a:srgbClr val="0032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002" autoAdjust="0"/>
    <p:restoredTop sz="97242"/>
  </p:normalViewPr>
  <p:slideViewPr>
    <p:cSldViewPr snapToGrid="0">
      <p:cViewPr varScale="1">
        <p:scale>
          <a:sx n="90" d="100"/>
          <a:sy n="90" d="100"/>
        </p:scale>
        <p:origin x="624" y="90"/>
      </p:cViewPr>
      <p:guideLst>
        <p:guide orient="horz" pos="595"/>
        <p:guide pos="3840"/>
        <p:guide orient="horz" pos="187"/>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97" d="100"/>
          <a:sy n="97" d="100"/>
        </p:scale>
        <p:origin x="5336"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999AFE6-721E-1D92-FFC0-72E02DBB97B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a:extLst>
              <a:ext uri="{FF2B5EF4-FFF2-40B4-BE49-F238E27FC236}">
                <a16:creationId xmlns:a16="http://schemas.microsoft.com/office/drawing/2014/main" id="{BA598C0A-ECF9-B897-80D5-1AE7ABA3058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8369B9F-131C-2846-AB8F-CEE154B4CAEB}" type="datetimeFigureOut">
              <a:rPr lang="es-CO" smtClean="0"/>
              <a:t>1/02/2025</a:t>
            </a:fld>
            <a:endParaRPr lang="es-CO"/>
          </a:p>
        </p:txBody>
      </p:sp>
      <p:sp>
        <p:nvSpPr>
          <p:cNvPr id="4" name="Marcador de pie de página 3">
            <a:extLst>
              <a:ext uri="{FF2B5EF4-FFF2-40B4-BE49-F238E27FC236}">
                <a16:creationId xmlns:a16="http://schemas.microsoft.com/office/drawing/2014/main" id="{788F308B-0102-A0B4-9A23-E807C735E85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1E7CACDD-5D14-572A-2591-609B03F1682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93070F-3F68-E043-9CC3-B53B4F22454C}" type="slidenum">
              <a:rPr lang="es-CO" smtClean="0"/>
              <a:t>‹Nº›</a:t>
            </a:fld>
            <a:endParaRPr lang="es-CO"/>
          </a:p>
        </p:txBody>
      </p:sp>
    </p:spTree>
    <p:extLst>
      <p:ext uri="{BB962C8B-B14F-4D97-AF65-F5344CB8AC3E}">
        <p14:creationId xmlns:p14="http://schemas.microsoft.com/office/powerpoint/2010/main" val="3470045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60CB96-A603-FF42-AE46-F5F75F80A67B}" type="datetimeFigureOut">
              <a:rPr lang="es-CO" smtClean="0"/>
              <a:t>1/02/2025</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06C58E-460D-4A4B-B0C2-1191B9D14FCB}" type="slidenum">
              <a:rPr lang="es-CO" smtClean="0"/>
              <a:t>‹Nº›</a:t>
            </a:fld>
            <a:endParaRPr lang="es-CO"/>
          </a:p>
        </p:txBody>
      </p:sp>
    </p:spTree>
    <p:extLst>
      <p:ext uri="{BB962C8B-B14F-4D97-AF65-F5344CB8AC3E}">
        <p14:creationId xmlns:p14="http://schemas.microsoft.com/office/powerpoint/2010/main" val="10213026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95260C-E8AD-B240-9481-5B2FE14A606C}"/>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A8F4960B-AC04-294C-9B8A-B10830EF5F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89F720DD-BA8F-C443-A59E-F0EEAF843AB1}"/>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5" name="Marcador de pie de página 4">
            <a:extLst>
              <a:ext uri="{FF2B5EF4-FFF2-40B4-BE49-F238E27FC236}">
                <a16:creationId xmlns:a16="http://schemas.microsoft.com/office/drawing/2014/main" id="{F9A1676A-B50F-4048-B9A0-67475225D0C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0B408DD-191C-9940-B5DC-9B04378C876B}"/>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379450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817F6C-CDBB-234C-B00B-255C60E5483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29743F10-0075-0F47-A0C2-0071CB2B3840}"/>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AB4C6E2-1F45-C54F-A384-6BA60BB5E5E7}"/>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5" name="Marcador de pie de página 4">
            <a:extLst>
              <a:ext uri="{FF2B5EF4-FFF2-40B4-BE49-F238E27FC236}">
                <a16:creationId xmlns:a16="http://schemas.microsoft.com/office/drawing/2014/main" id="{EF44B0E8-9C87-6C41-96F5-6419B500057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DD08979-815A-D443-B424-FB031F975D72}"/>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6422036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4B3E04-413C-394A-94BD-6FD1D56E17FC}"/>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2E8DEAC-948A-0F4A-9098-1EA5A30BE36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F0E9B39-9659-7747-851C-17A0C73C8B12}"/>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5" name="Marcador de pie de página 4">
            <a:extLst>
              <a:ext uri="{FF2B5EF4-FFF2-40B4-BE49-F238E27FC236}">
                <a16:creationId xmlns:a16="http://schemas.microsoft.com/office/drawing/2014/main" id="{5990AE33-28EE-274E-8E15-02A1474831B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EA1D99B-0619-1847-8509-03589920E86F}"/>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130376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0119BB-39AA-4B48-BB60-3EE344FF24B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8E8365F-8201-9D4B-85A4-E53E8819A86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C674364B-4945-0A4D-A279-35519E3F46DE}"/>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2868BFB1-0C38-A141-AB7B-22CD10FF3F3D}"/>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6" name="Marcador de pie de página 5">
            <a:extLst>
              <a:ext uri="{FF2B5EF4-FFF2-40B4-BE49-F238E27FC236}">
                <a16:creationId xmlns:a16="http://schemas.microsoft.com/office/drawing/2014/main" id="{9FF6516E-C104-3E4A-BC0F-DC137BD98C4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2C08597-16B2-3B42-B59A-8815DD747357}"/>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1425473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44272C-3F8B-AF4A-82BE-E5BE9107D7B0}"/>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44B8DA00-E62A-A54E-BC50-AEBAAF2516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6E9F7D8-1A62-544F-A4E2-23A591854BA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1895FC1-5F27-B640-81B9-33366BECB5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400D0329-F1AE-FE44-A7B4-B16B429A0C9A}"/>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5A80CE19-B065-6E4F-A207-999BBF94CA15}"/>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8" name="Marcador de pie de página 7">
            <a:extLst>
              <a:ext uri="{FF2B5EF4-FFF2-40B4-BE49-F238E27FC236}">
                <a16:creationId xmlns:a16="http://schemas.microsoft.com/office/drawing/2014/main" id="{299C46BF-4920-E443-B109-668969C5EB88}"/>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9C417FDA-D0D0-AD4C-9F49-6FFEC4BC64C3}"/>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169540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C92FB5-1F0C-DE4B-8A05-DE0792814E4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5AF7F14C-AA7D-3049-A400-4AC6EED53745}"/>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4" name="Marcador de pie de página 3">
            <a:extLst>
              <a:ext uri="{FF2B5EF4-FFF2-40B4-BE49-F238E27FC236}">
                <a16:creationId xmlns:a16="http://schemas.microsoft.com/office/drawing/2014/main" id="{E746EF7E-3912-BF43-BEB6-49819D4EEF21}"/>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9BD767C9-209C-E54C-90E7-5176E4464B89}"/>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8228511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7E92712-14E7-954C-8C23-33CD3DBD715B}"/>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3" name="Marcador de pie de página 2">
            <a:extLst>
              <a:ext uri="{FF2B5EF4-FFF2-40B4-BE49-F238E27FC236}">
                <a16:creationId xmlns:a16="http://schemas.microsoft.com/office/drawing/2014/main" id="{FD7BCE5F-F417-1247-9F26-F4B71346851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20B4FC7D-A6BA-0840-87AD-C71B1896B98D}"/>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5416207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F2BE35-F0B5-DA4A-BE9E-AACFF26FF18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8E62C38B-5384-914E-829A-352266F70B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A79E434B-6E01-8148-AB00-051DDD4020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E3E8B8D-7A8A-794B-83A8-6920142BBBD1}"/>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6" name="Marcador de pie de página 5">
            <a:extLst>
              <a:ext uri="{FF2B5EF4-FFF2-40B4-BE49-F238E27FC236}">
                <a16:creationId xmlns:a16="http://schemas.microsoft.com/office/drawing/2014/main" id="{582F34C9-1A26-0B41-8AE3-21E599CC561A}"/>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82100B2-B969-0340-BEE2-F5FE05353DFA}"/>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69714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ADFDE3-8BDA-6F45-A442-3C2913AE526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C08B3433-597C-7E43-A088-A50E4434313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A20DB791-C948-D149-A74A-0C0DFCA0B4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145138C-C370-6E42-902A-0DD2F4F614AE}"/>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6" name="Marcador de pie de página 5">
            <a:extLst>
              <a:ext uri="{FF2B5EF4-FFF2-40B4-BE49-F238E27FC236}">
                <a16:creationId xmlns:a16="http://schemas.microsoft.com/office/drawing/2014/main" id="{9A61561C-CA9F-0943-8A3E-60233368C60D}"/>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67B72CA4-FB9F-FB4B-8159-119C3846C3CB}"/>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069502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07BF5-7EFA-9943-8CEE-7006AC893CB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EFF53FB-B16B-7444-99CF-B7533C11E26D}"/>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C9133D3-834D-0942-99DE-29F15E8DC436}"/>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5" name="Marcador de pie de página 4">
            <a:extLst>
              <a:ext uri="{FF2B5EF4-FFF2-40B4-BE49-F238E27FC236}">
                <a16:creationId xmlns:a16="http://schemas.microsoft.com/office/drawing/2014/main" id="{5A5A02E1-CB07-7943-ACA2-6FF8387D32DF}"/>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12BC7A9-2B5F-1841-91C8-9460E3E551A3}"/>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711478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C11DF48-6A7C-3349-8650-2AA87E5D5E6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5D61C96-3D9F-F745-A812-5EC81CEB48F4}"/>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3F61D3C-242D-F544-9883-3EEF515CE808}"/>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5" name="Marcador de pie de página 4">
            <a:extLst>
              <a:ext uri="{FF2B5EF4-FFF2-40B4-BE49-F238E27FC236}">
                <a16:creationId xmlns:a16="http://schemas.microsoft.com/office/drawing/2014/main" id="{CCAB2518-6961-A143-A5EE-C5606EBA486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86FEAD3-1533-7A45-8011-C0C84A1DCD46}"/>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3816216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eño personalizado">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CE09D5-8681-04F4-0AD1-7206C3FF51F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8EB62C8D-42BE-8DF8-DDA7-6DDCB2389C42}"/>
              </a:ext>
            </a:extLst>
          </p:cNvPr>
          <p:cNvSpPr>
            <a:spLocks noGrp="1"/>
          </p:cNvSpPr>
          <p:nvPr>
            <p:ph type="dt" sz="half" idx="10"/>
          </p:nvPr>
        </p:nvSpPr>
        <p:spPr/>
        <p:txBody>
          <a:bodyPr/>
          <a:lstStyle/>
          <a:p>
            <a:fld id="{BD986248-06F7-A441-A47A-264EBD310E11}" type="datetimeFigureOut">
              <a:rPr lang="es-CO" smtClean="0"/>
              <a:t>1/02/2025</a:t>
            </a:fld>
            <a:endParaRPr lang="es-CO"/>
          </a:p>
        </p:txBody>
      </p:sp>
      <p:sp>
        <p:nvSpPr>
          <p:cNvPr id="4" name="Marcador de pie de página 3">
            <a:extLst>
              <a:ext uri="{FF2B5EF4-FFF2-40B4-BE49-F238E27FC236}">
                <a16:creationId xmlns:a16="http://schemas.microsoft.com/office/drawing/2014/main" id="{19F9D5C3-AD35-C818-D069-AB2D8EBBEEF8}"/>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E106A169-E84D-2DE1-E7CC-7058F9C00ADE}"/>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145659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6EFFBE1-33C9-1D48-A916-7535B68EC67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778E02A-26CF-6C46-A280-67C4AA0551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CE7CDF9-2DDE-C04D-A9B9-78F138A1C3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D986248-06F7-A441-A47A-264EBD310E11}" type="datetimeFigureOut">
              <a:rPr lang="es-CO" smtClean="0"/>
              <a:t>1/02/2025</a:t>
            </a:fld>
            <a:endParaRPr lang="es-CO"/>
          </a:p>
        </p:txBody>
      </p:sp>
      <p:sp>
        <p:nvSpPr>
          <p:cNvPr id="5" name="Marcador de pie de página 4">
            <a:extLst>
              <a:ext uri="{FF2B5EF4-FFF2-40B4-BE49-F238E27FC236}">
                <a16:creationId xmlns:a16="http://schemas.microsoft.com/office/drawing/2014/main" id="{767570B4-267C-034E-B58B-04C03C9E55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5041693D-7DB1-1144-97E3-85753EC9A0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3E15DF6-230E-2E43-B847-68755106EC6D}" type="slidenum">
              <a:rPr lang="es-CO" smtClean="0"/>
              <a:t>‹Nº›</a:t>
            </a:fld>
            <a:endParaRPr lang="es-CO"/>
          </a:p>
        </p:txBody>
      </p:sp>
    </p:spTree>
    <p:extLst>
      <p:ext uri="{BB962C8B-B14F-4D97-AF65-F5344CB8AC3E}">
        <p14:creationId xmlns:p14="http://schemas.microsoft.com/office/powerpoint/2010/main" val="30626094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8" Type="http://schemas.openxmlformats.org/officeDocument/2006/relationships/hyperlink" Target="https://www.tutorialesprogramacionya.com/javaya/detalleconcepto.php?codigo=104&amp;punto=&amp;inicio=20" TargetMode="External"/><Relationship Id="rId3" Type="http://schemas.openxmlformats.org/officeDocument/2006/relationships/hyperlink" Target="https://blog.hubspot.es/website/que-es-objeto-java" TargetMode="External"/><Relationship Id="rId7" Type="http://schemas.openxmlformats.org/officeDocument/2006/relationships/hyperlink" Target="https://www.jairogarciarincon.com/clase/interfaces-de-usuario-con-java-swing/componentes-jframe-jlabel-y-jdialog-dialogos-modales" TargetMode="External"/><Relationship Id="rId2" Type="http://schemas.openxmlformats.org/officeDocument/2006/relationships/hyperlink" Target="https://chatgpt.com/" TargetMode="External"/><Relationship Id="rId1" Type="http://schemas.openxmlformats.org/officeDocument/2006/relationships/slideLayout" Target="../slideLayouts/slideLayout7.xml"/><Relationship Id="rId6" Type="http://schemas.openxmlformats.org/officeDocument/2006/relationships/hyperlink" Target="https://www.fdi.ucm.es/profesor/jpavon/poo/tema6resumido.pdf" TargetMode="External"/><Relationship Id="rId5" Type="http://schemas.openxmlformats.org/officeDocument/2006/relationships/hyperlink" Target="https://docs.oracle.com/javase/tutorial/uiswing/components/combobox.html" TargetMode="External"/><Relationship Id="rId4" Type="http://schemas.openxmlformats.org/officeDocument/2006/relationships/hyperlink" Target="https://uneweb.edu.ve/tuto-docs/guia-mysql-1.pdf" TargetMode="Externa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015D167A-EE62-EA02-E6F4-53710691F485}"/>
              </a:ext>
            </a:extLst>
          </p:cNvPr>
          <p:cNvSpPr txBox="1"/>
          <p:nvPr/>
        </p:nvSpPr>
        <p:spPr>
          <a:xfrm>
            <a:off x="1039871" y="2365570"/>
            <a:ext cx="6453678" cy="1938992"/>
          </a:xfrm>
          <a:prstGeom prst="rect">
            <a:avLst/>
          </a:prstGeom>
          <a:noFill/>
        </p:spPr>
        <p:txBody>
          <a:bodyPr wrap="square" rtlCol="0">
            <a:spAutoFit/>
          </a:bodyPr>
          <a:lstStyle/>
          <a:p>
            <a:pPr marL="0" marR="0" lvl="0" indent="0" algn="l" defTabSz="914400" rtl="0" eaLnBrk="1" fontAlgn="auto" latinLnBrk="0" hangingPunct="1">
              <a:spcBef>
                <a:spcPts val="0"/>
              </a:spcBef>
              <a:spcAft>
                <a:spcPts val="0"/>
              </a:spcAft>
              <a:buClrTx/>
              <a:buSzTx/>
              <a:buFontTx/>
              <a:buNone/>
              <a:tabLst/>
              <a:defRPr/>
            </a:pPr>
            <a:r>
              <a:rPr lang="es-ES" sz="4000" b="1" dirty="0">
                <a:solidFill>
                  <a:prstClr val="black">
                    <a:lumMod val="75000"/>
                    <a:lumOff val="25000"/>
                  </a:prstClr>
                </a:solidFill>
                <a:latin typeface="Work Sans Bold Roman" pitchFamily="2" charset="77"/>
              </a:rPr>
              <a:t>Software administrador </a:t>
            </a:r>
            <a:r>
              <a:rPr lang="es-ES" sz="4000" b="1" dirty="0" err="1">
                <a:solidFill>
                  <a:prstClr val="black">
                    <a:lumMod val="75000"/>
                    <a:lumOff val="25000"/>
                  </a:prstClr>
                </a:solidFill>
                <a:latin typeface="Work Sans Bold Roman" pitchFamily="2" charset="77"/>
              </a:rPr>
              <a:t>GigaGains</a:t>
            </a:r>
            <a:endParaRPr lang="es-ES" sz="4000" b="1" dirty="0">
              <a:solidFill>
                <a:prstClr val="black">
                  <a:lumMod val="75000"/>
                  <a:lumOff val="25000"/>
                </a:prstClr>
              </a:solidFill>
              <a:latin typeface="Work Sans Bold Roman" pitchFamily="2" charset="77"/>
            </a:endParaRPr>
          </a:p>
          <a:p>
            <a:pPr marL="0" marR="0" lvl="0" indent="0" algn="l" defTabSz="914400" rtl="0" eaLnBrk="1" fontAlgn="auto" latinLnBrk="0" hangingPunct="1">
              <a:spcBef>
                <a:spcPts val="0"/>
              </a:spcBef>
              <a:spcAft>
                <a:spcPts val="0"/>
              </a:spcAft>
              <a:buClrTx/>
              <a:buSzTx/>
              <a:buFontTx/>
              <a:buNone/>
              <a:tabLst/>
              <a:defRPr/>
            </a:pPr>
            <a:endParaRPr kumimoji="0" lang="es-ES" sz="2000" b="1" i="0" u="none" strike="noStrike" kern="1200" cap="none" spc="0" normalizeH="0" baseline="0" noProof="0" dirty="0">
              <a:ln>
                <a:noFill/>
              </a:ln>
              <a:solidFill>
                <a:prstClr val="black">
                  <a:lumMod val="75000"/>
                  <a:lumOff val="25000"/>
                </a:prstClr>
              </a:solidFill>
              <a:effectLst/>
              <a:uLnTx/>
              <a:uFillTx/>
              <a:latin typeface="Work Sans Bold Roman" pitchFamily="2" charset="77"/>
              <a:ea typeface="+mn-ea"/>
              <a:cs typeface="+mn-cs"/>
            </a:endParaRPr>
          </a:p>
          <a:p>
            <a:pPr marL="0" marR="0" lvl="0" indent="0" algn="l" defTabSz="914400" rtl="0" eaLnBrk="1" fontAlgn="auto" latinLnBrk="0" hangingPunct="1">
              <a:spcBef>
                <a:spcPts val="0"/>
              </a:spcBef>
              <a:spcAft>
                <a:spcPts val="0"/>
              </a:spcAft>
              <a:buClrTx/>
              <a:buSzTx/>
              <a:buFontTx/>
              <a:buNone/>
              <a:tabLst/>
              <a:defRPr/>
            </a:pPr>
            <a:r>
              <a:rPr lang="es-ES" sz="2000" b="1" dirty="0">
                <a:solidFill>
                  <a:prstClr val="black">
                    <a:lumMod val="75000"/>
                    <a:lumOff val="25000"/>
                  </a:prstClr>
                </a:solidFill>
                <a:latin typeface="Work Sans Bold Roman" pitchFamily="2" charset="77"/>
              </a:rPr>
              <a:t>David Alfredo Pulido Sarmiento // ADSO 2696521</a:t>
            </a:r>
            <a:endParaRPr kumimoji="0" lang="es-ES" sz="2000" b="1" i="0" u="none" strike="noStrike" kern="1200" cap="none" spc="0" normalizeH="0" baseline="0" noProof="0" dirty="0">
              <a:ln>
                <a:noFill/>
              </a:ln>
              <a:solidFill>
                <a:prstClr val="black">
                  <a:lumMod val="75000"/>
                  <a:lumOff val="25000"/>
                </a:prstClr>
              </a:solidFill>
              <a:effectLst/>
              <a:uLnTx/>
              <a:uFillTx/>
              <a:latin typeface="Work Sans Bold Roman" pitchFamily="2" charset="77"/>
              <a:ea typeface="+mn-ea"/>
              <a:cs typeface="+mn-cs"/>
            </a:endParaRPr>
          </a:p>
        </p:txBody>
      </p:sp>
    </p:spTree>
    <p:extLst>
      <p:ext uri="{BB962C8B-B14F-4D97-AF65-F5344CB8AC3E}">
        <p14:creationId xmlns:p14="http://schemas.microsoft.com/office/powerpoint/2010/main" val="34097260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FEF253-53C4-B5FA-07C7-0B039B14F52F}"/>
              </a:ext>
            </a:extLst>
          </p:cNvPr>
          <p:cNvSpPr txBox="1"/>
          <p:nvPr/>
        </p:nvSpPr>
        <p:spPr>
          <a:xfrm>
            <a:off x="808566" y="2308651"/>
            <a:ext cx="10574867"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6000" b="1" u="none" strike="noStrike" kern="1200" cap="none" spc="0" normalizeH="0" baseline="0" noProof="0" dirty="0">
                <a:ln>
                  <a:noFill/>
                </a:ln>
                <a:solidFill>
                  <a:srgbClr val="4D4D4C"/>
                </a:solidFill>
                <a:effectLst/>
                <a:uLnTx/>
                <a:uFillTx/>
                <a:latin typeface="WORK SANS BOLD ROMAN" pitchFamily="2" charset="77"/>
              </a:rPr>
              <a:t>Objetivos del Proyecto</a:t>
            </a:r>
            <a:endParaRPr kumimoji="0" lang="es-CO" sz="7200" b="1" u="none" strike="noStrike" kern="1200" cap="none" spc="0" normalizeH="0" baseline="0" noProof="0" dirty="0">
              <a:ln>
                <a:noFill/>
              </a:ln>
              <a:solidFill>
                <a:srgbClr val="4D4D4C"/>
              </a:solidFill>
              <a:effectLst/>
              <a:uLnTx/>
              <a:uFillTx/>
              <a:latin typeface="WORK SANS BOLD ROMAN" pitchFamily="2" charset="77"/>
            </a:endParaRPr>
          </a:p>
        </p:txBody>
      </p:sp>
      <p:cxnSp>
        <p:nvCxnSpPr>
          <p:cNvPr id="3" name="Conector recto 2">
            <a:extLst>
              <a:ext uri="{FF2B5EF4-FFF2-40B4-BE49-F238E27FC236}">
                <a16:creationId xmlns:a16="http://schemas.microsoft.com/office/drawing/2014/main" id="{AE0C963B-97B4-4F66-1B49-0B47BC7F0F1A}"/>
              </a:ext>
            </a:extLst>
          </p:cNvPr>
          <p:cNvCxnSpPr>
            <a:cxnSpLocks/>
          </p:cNvCxnSpPr>
          <p:nvPr/>
        </p:nvCxnSpPr>
        <p:spPr>
          <a:xfrm>
            <a:off x="4972228" y="3324314"/>
            <a:ext cx="2247544" cy="0"/>
          </a:xfrm>
          <a:prstGeom prst="line">
            <a:avLst/>
          </a:prstGeom>
          <a:ln w="12700">
            <a:solidFill>
              <a:srgbClr val="38A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6473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CE75F1-F343-8856-BC69-4BB6B82BF3E4}"/>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Descripción del problema </a:t>
            </a:r>
            <a:endParaRPr kumimoji="0" lang="es-CO" sz="3600" b="1" u="none" strike="noStrike" kern="1200" cap="none" spc="0" normalizeH="0" baseline="0" noProof="0" dirty="0">
              <a:ln>
                <a:noFill/>
              </a:ln>
              <a:solidFill>
                <a:srgbClr val="4D4D4C"/>
              </a:solidFill>
              <a:effectLst/>
              <a:uLnTx/>
              <a:uFillTx/>
              <a:latin typeface="WORK SANS BOLD ROMAN" pitchFamily="2" charset="77"/>
            </a:endParaRPr>
          </a:p>
        </p:txBody>
      </p:sp>
      <p:sp>
        <p:nvSpPr>
          <p:cNvPr id="3" name="CuadroTexto 2">
            <a:extLst>
              <a:ext uri="{FF2B5EF4-FFF2-40B4-BE49-F238E27FC236}">
                <a16:creationId xmlns:a16="http://schemas.microsoft.com/office/drawing/2014/main" id="{A6C31FC2-6C63-0CB9-C78D-1723D5E9DD66}"/>
              </a:ext>
            </a:extLst>
          </p:cNvPr>
          <p:cNvSpPr txBox="1"/>
          <p:nvPr/>
        </p:nvSpPr>
        <p:spPr>
          <a:xfrm>
            <a:off x="577563" y="1423906"/>
            <a:ext cx="11011925" cy="2800767"/>
          </a:xfrm>
          <a:prstGeom prst="rect">
            <a:avLst/>
          </a:prstGeom>
          <a:noFill/>
        </p:spPr>
        <p:txBody>
          <a:bodyPr wrap="square" rtlCol="0">
            <a:spAutoFit/>
          </a:bodyPr>
          <a:lstStyle/>
          <a:p>
            <a:r>
              <a:rPr lang="es-ES" sz="1600" dirty="0"/>
              <a:t>	Actualmente, los entusiastas del fitness se enfrentan a varios desafíos al intentar gestionar su progreso y mantenerse motivados en su viaje de fitness. Entre estos</a:t>
            </a:r>
          </a:p>
          <a:p>
            <a:r>
              <a:rPr lang="es-ES" sz="1600" dirty="0"/>
              <a:t>desafíos se incluyen:</a:t>
            </a:r>
          </a:p>
          <a:p>
            <a:endParaRPr lang="es-ES" sz="1600" dirty="0"/>
          </a:p>
          <a:p>
            <a:r>
              <a:rPr lang="es-ES" sz="1600" dirty="0"/>
              <a:t>1. Falta de Herramientas Integradas: Muchas plataformas ofrecen solo una parte de la solución, lo que obliga a los usuarios a utilizar múltiples aplicaciones y servicios para gestionar diferentes aspectos de su fitness.</a:t>
            </a:r>
          </a:p>
          <a:p>
            <a:endParaRPr lang="es-ES" sz="1600" dirty="0"/>
          </a:p>
          <a:p>
            <a:r>
              <a:rPr lang="es-ES" sz="1600" dirty="0"/>
              <a:t>2. Complejidad y Confusión: Algunas aplicaciones existentes pueden ser difíciles de usar o carecer de la capacidad de personalización, lo que dificulta que los usuarios sigan sus planes de fitness de manera efectiva.</a:t>
            </a:r>
          </a:p>
          <a:p>
            <a:endParaRPr lang="es-ES" sz="1600" dirty="0"/>
          </a:p>
          <a:p>
            <a:endParaRPr lang="es-ES" sz="1600" dirty="0">
              <a:latin typeface="Work Sans Light Roman" pitchFamily="2" charset="77"/>
            </a:endParaRPr>
          </a:p>
        </p:txBody>
      </p:sp>
    </p:spTree>
    <p:extLst>
      <p:ext uri="{BB962C8B-B14F-4D97-AF65-F5344CB8AC3E}">
        <p14:creationId xmlns:p14="http://schemas.microsoft.com/office/powerpoint/2010/main" val="9921456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CE75F1-F343-8856-BC69-4BB6B82BF3E4}"/>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Descripción del la resolución  </a:t>
            </a:r>
          </a:p>
        </p:txBody>
      </p:sp>
      <p:sp>
        <p:nvSpPr>
          <p:cNvPr id="3" name="CuadroTexto 2">
            <a:extLst>
              <a:ext uri="{FF2B5EF4-FFF2-40B4-BE49-F238E27FC236}">
                <a16:creationId xmlns:a16="http://schemas.microsoft.com/office/drawing/2014/main" id="{A6C31FC2-6C63-0CB9-C78D-1723D5E9DD66}"/>
              </a:ext>
            </a:extLst>
          </p:cNvPr>
          <p:cNvSpPr txBox="1"/>
          <p:nvPr/>
        </p:nvSpPr>
        <p:spPr>
          <a:xfrm>
            <a:off x="577563" y="1423906"/>
            <a:ext cx="11075721" cy="1958165"/>
          </a:xfrm>
          <a:prstGeom prst="rect">
            <a:avLst/>
          </a:prstGeom>
          <a:noFill/>
        </p:spPr>
        <p:txBody>
          <a:bodyPr wrap="square" rtlCol="0">
            <a:spAutoFit/>
          </a:bodyPr>
          <a:lstStyle/>
          <a:p>
            <a:pPr indent="457200" algn="just">
              <a:lnSpc>
                <a:spcPct val="107000"/>
              </a:lnSpc>
              <a:spcAft>
                <a:spcPts val="800"/>
              </a:spcAft>
            </a:pPr>
            <a:r>
              <a:rPr lang="es-CO" sz="1800" dirty="0">
                <a:solidFill>
                  <a:srgbClr val="000000"/>
                </a:solidFill>
                <a:effectLst/>
                <a:latin typeface="Arial" panose="020B0604020202020204" pitchFamily="34" charset="0"/>
                <a:ea typeface="Arial" panose="020B0604020202020204" pitchFamily="34" charset="0"/>
              </a:rPr>
              <a:t>Con el propósito de optimizar los procesos de control de planes y usuarios de la página web </a:t>
            </a:r>
            <a:r>
              <a:rPr lang="es-CO" sz="1800" dirty="0" err="1">
                <a:effectLst/>
                <a:latin typeface="Arial" panose="020B0604020202020204" pitchFamily="34" charset="0"/>
                <a:ea typeface="Arial" panose="020B0604020202020204" pitchFamily="34" charset="0"/>
              </a:rPr>
              <a:t>GigaGains</a:t>
            </a:r>
            <a:r>
              <a:rPr lang="es-CO" sz="1800" dirty="0">
                <a:solidFill>
                  <a:srgbClr val="000000"/>
                </a:solidFill>
                <a:effectLst/>
                <a:latin typeface="Arial" panose="020B0604020202020204" pitchFamily="34" charset="0"/>
                <a:ea typeface="Arial" panose="020B0604020202020204" pitchFamily="34" charset="0"/>
              </a:rPr>
              <a:t> del aprendiz, se propone la implementación de un sistema de administración para el manejar el control de estos. Esta solución busca proporcionando una herramienta eficiente para administradores que se encarguen del manejo de planes y usuarios de la página web.  </a:t>
            </a:r>
          </a:p>
          <a:p>
            <a:pPr indent="457200" algn="just">
              <a:lnSpc>
                <a:spcPct val="107000"/>
              </a:lnSpc>
              <a:spcAft>
                <a:spcPts val="800"/>
              </a:spcAft>
            </a:pPr>
            <a:r>
              <a:rPr lang="es-CO" sz="1800" dirty="0">
                <a:solidFill>
                  <a:srgbClr val="000000"/>
                </a:solidFill>
                <a:effectLst/>
                <a:latin typeface="Arial" panose="020B0604020202020204" pitchFamily="34" charset="0"/>
                <a:ea typeface="Arial" panose="020B0604020202020204" pitchFamily="34" charset="0"/>
              </a:rPr>
              <a:t>En este informe detallamos los objetivos, alcances y metodologías para la implementación de este sistema de administración para el control de planes y usuarios. </a:t>
            </a:r>
            <a:endParaRPr lang="es-CO" sz="18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1262376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C88A9-9F68-F3B1-A80C-079466F95A9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CFFE958-2A19-BC65-7211-4D1DE7DF0617}"/>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Objetivo General</a:t>
            </a:r>
          </a:p>
        </p:txBody>
      </p:sp>
      <p:sp>
        <p:nvSpPr>
          <p:cNvPr id="3" name="CuadroTexto 2">
            <a:extLst>
              <a:ext uri="{FF2B5EF4-FFF2-40B4-BE49-F238E27FC236}">
                <a16:creationId xmlns:a16="http://schemas.microsoft.com/office/drawing/2014/main" id="{67783F64-98C4-7486-7E82-F7E1812C8C73}"/>
              </a:ext>
            </a:extLst>
          </p:cNvPr>
          <p:cNvSpPr txBox="1"/>
          <p:nvPr/>
        </p:nvSpPr>
        <p:spPr>
          <a:xfrm>
            <a:off x="577563" y="1423906"/>
            <a:ext cx="11075721" cy="670120"/>
          </a:xfrm>
          <a:prstGeom prst="rect">
            <a:avLst/>
          </a:prstGeom>
          <a:noFill/>
        </p:spPr>
        <p:txBody>
          <a:bodyPr wrap="square" rtlCol="0">
            <a:spAutoFit/>
          </a:bodyPr>
          <a:lstStyle/>
          <a:p>
            <a:pPr indent="457200" algn="just">
              <a:lnSpc>
                <a:spcPct val="107000"/>
              </a:lnSpc>
              <a:spcAft>
                <a:spcPts val="800"/>
              </a:spcAft>
            </a:pPr>
            <a:r>
              <a:rPr lang="es-CO" sz="1800" dirty="0">
                <a:solidFill>
                  <a:srgbClr val="000000"/>
                </a:solidFill>
                <a:effectLst/>
                <a:latin typeface="Arial" panose="020B0604020202020204" pitchFamily="34" charset="0"/>
                <a:ea typeface="Arial" panose="020B0604020202020204" pitchFamily="34" charset="0"/>
              </a:rPr>
              <a:t>Desarrollar un sistema de administración para el control de planes y usuarios de la página web </a:t>
            </a:r>
            <a:r>
              <a:rPr lang="es-CO" sz="1800" dirty="0" err="1">
                <a:solidFill>
                  <a:srgbClr val="000000"/>
                </a:solidFill>
                <a:effectLst/>
                <a:latin typeface="Arial" panose="020B0604020202020204" pitchFamily="34" charset="0"/>
                <a:ea typeface="Arial" panose="020B0604020202020204" pitchFamily="34" charset="0"/>
              </a:rPr>
              <a:t>GigaGains</a:t>
            </a:r>
            <a:r>
              <a:rPr lang="es-CO" sz="1800" dirty="0">
                <a:solidFill>
                  <a:srgbClr val="000000"/>
                </a:solidFill>
                <a:effectLst/>
                <a:latin typeface="Arial" panose="020B0604020202020204" pitchFamily="34" charset="0"/>
                <a:ea typeface="Arial" panose="020B0604020202020204" pitchFamily="34" charset="0"/>
              </a:rPr>
              <a:t>.  </a:t>
            </a:r>
            <a:endParaRPr lang="es-CO" sz="18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2811689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F4F2E-1317-13B9-AFCE-08FC092545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2A5F470-BF07-914D-ED42-DF4CF5D7D6A1}"/>
              </a:ext>
            </a:extLst>
          </p:cNvPr>
          <p:cNvSpPr txBox="1">
            <a:spLocks/>
          </p:cNvSpPr>
          <p:nvPr/>
        </p:nvSpPr>
        <p:spPr>
          <a:xfrm>
            <a:off x="456236" y="14023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Objetivos Específicos</a:t>
            </a:r>
          </a:p>
        </p:txBody>
      </p:sp>
      <p:sp>
        <p:nvSpPr>
          <p:cNvPr id="3" name="CuadroTexto 2">
            <a:extLst>
              <a:ext uri="{FF2B5EF4-FFF2-40B4-BE49-F238E27FC236}">
                <a16:creationId xmlns:a16="http://schemas.microsoft.com/office/drawing/2014/main" id="{EA66239A-FDD3-CD55-660C-7E1C9CF591AA}"/>
              </a:ext>
            </a:extLst>
          </p:cNvPr>
          <p:cNvSpPr txBox="1"/>
          <p:nvPr/>
        </p:nvSpPr>
        <p:spPr>
          <a:xfrm>
            <a:off x="456236" y="711682"/>
            <a:ext cx="11235209" cy="6118983"/>
          </a:xfrm>
          <a:prstGeom prst="rect">
            <a:avLst/>
          </a:prstGeom>
          <a:noFill/>
        </p:spPr>
        <p:txBody>
          <a:bodyPr wrap="square" rtlCol="0">
            <a:spAutoFit/>
          </a:bodyPr>
          <a:lstStyle/>
          <a:p>
            <a:pPr marL="342900" lvl="0" indent="-342900" algn="just">
              <a:lnSpc>
                <a:spcPct val="107000"/>
              </a:lnSpc>
              <a:spcAft>
                <a:spcPts val="800"/>
              </a:spcAft>
              <a:buFont typeface="Arial" panose="020B0604020202020204" pitchFamily="34" charset="0"/>
              <a:buChar char="●"/>
            </a:pPr>
            <a:r>
              <a:rPr lang="es-CO" sz="1600" dirty="0">
                <a:solidFill>
                  <a:srgbClr val="000000"/>
                </a:solidFill>
                <a:effectLst/>
                <a:latin typeface="Arial" panose="020B0604020202020204" pitchFamily="34" charset="0"/>
                <a:ea typeface="Arial" panose="020B0604020202020204" pitchFamily="34" charset="0"/>
                <a:cs typeface="Arial" panose="020B0604020202020204" pitchFamily="34" charset="0"/>
              </a:rPr>
              <a:t>Desarrollar un aplicativo capaz de crear, editar, leer y borrar planes para la página web </a:t>
            </a:r>
            <a:r>
              <a:rPr lang="es-CO" sz="1600" dirty="0" err="1">
                <a:solidFill>
                  <a:srgbClr val="000000"/>
                </a:solidFill>
                <a:effectLst/>
                <a:latin typeface="Arial" panose="020B0604020202020204" pitchFamily="34" charset="0"/>
                <a:ea typeface="Arial" panose="020B0604020202020204" pitchFamily="34" charset="0"/>
                <a:cs typeface="Arial" panose="020B0604020202020204" pitchFamily="34" charset="0"/>
              </a:rPr>
              <a:t>GigaGains</a:t>
            </a:r>
            <a:r>
              <a:rPr lang="es-CO" sz="1600" dirty="0">
                <a:solidFill>
                  <a:srgbClr val="000000"/>
                </a:solidFill>
                <a:effectLst/>
                <a:latin typeface="Arial" panose="020B0604020202020204" pitchFamily="34" charset="0"/>
                <a:ea typeface="Arial" panose="020B0604020202020204" pitchFamily="34" charset="0"/>
                <a:cs typeface="Arial" panose="020B0604020202020204" pitchFamily="34" charset="0"/>
              </a:rPr>
              <a:t>.</a:t>
            </a:r>
            <a:br>
              <a:rPr lang="es-CO" sz="1600" dirty="0">
                <a:solidFill>
                  <a:srgbClr val="000000"/>
                </a:solidFill>
                <a:latin typeface="Arial" panose="020B0604020202020204" pitchFamily="34" charset="0"/>
                <a:ea typeface="Arial" panose="020B0604020202020204" pitchFamily="34" charset="0"/>
                <a:cs typeface="Arial" panose="020B0604020202020204" pitchFamily="34" charset="0"/>
              </a:rPr>
            </a:br>
            <a:endParaRPr lang="es-CO" sz="1600" dirty="0">
              <a:effectLst/>
              <a:latin typeface="Arial" panose="020B0604020202020204" pitchFamily="34" charset="0"/>
              <a:ea typeface="Calibri" panose="020F0502020204030204" pitchFamily="34" charset="0"/>
              <a:cs typeface="Arial" panose="020B0604020202020204" pitchFamily="34" charset="0"/>
            </a:endParaRPr>
          </a:p>
          <a:p>
            <a:pPr marL="342900" lvl="0" indent="-342900">
              <a:lnSpc>
                <a:spcPct val="107000"/>
              </a:lnSpc>
              <a:spcAft>
                <a:spcPts val="800"/>
              </a:spcAft>
              <a:buFont typeface="Arial" panose="020B0604020202020204" pitchFamily="34" charset="0"/>
              <a:buChar char="●"/>
            </a:pPr>
            <a:r>
              <a:rPr lang="es-CO" sz="1600" dirty="0">
                <a:effectLst/>
                <a:latin typeface="Arial" panose="020B0604020202020204" pitchFamily="34" charset="0"/>
                <a:ea typeface="Arial" panose="020B0604020202020204" pitchFamily="34" charset="0"/>
                <a:cs typeface="Arial" panose="020B0604020202020204" pitchFamily="34" charset="0"/>
              </a:rPr>
              <a:t>Integrar una base de datos que permita cargar y administrar los datos de los usuarios y planes.</a:t>
            </a:r>
            <a:br>
              <a:rPr lang="es-CO" sz="1600" dirty="0">
                <a:effectLst/>
                <a:latin typeface="Arial" panose="020B0604020202020204" pitchFamily="34" charset="0"/>
                <a:ea typeface="Arial" panose="020B0604020202020204" pitchFamily="34" charset="0"/>
                <a:cs typeface="Arial" panose="020B0604020202020204" pitchFamily="34" charset="0"/>
              </a:rPr>
            </a:br>
            <a:endParaRPr lang="es-CO" sz="1600" dirty="0">
              <a:effectLst/>
              <a:latin typeface="Arial" panose="020B0604020202020204" pitchFamily="34" charset="0"/>
              <a:ea typeface="Calibri" panose="020F0502020204030204" pitchFamily="34" charset="0"/>
              <a:cs typeface="Arial" panose="020B0604020202020204" pitchFamily="34" charset="0"/>
            </a:endParaRPr>
          </a:p>
          <a:p>
            <a:pPr marL="342900" lvl="0" indent="-342900">
              <a:lnSpc>
                <a:spcPct val="107000"/>
              </a:lnSpc>
              <a:spcAft>
                <a:spcPts val="800"/>
              </a:spcAft>
              <a:buFont typeface="Symbol" panose="05050102010706020507" pitchFamily="18" charset="2"/>
              <a:buChar char=""/>
            </a:pPr>
            <a:r>
              <a:rPr lang="es-MX" sz="1600" dirty="0">
                <a:effectLst/>
                <a:latin typeface="Arial" panose="020B0604020202020204" pitchFamily="34" charset="0"/>
                <a:ea typeface="Arial" panose="020B0604020202020204" pitchFamily="34" charset="0"/>
                <a:cs typeface="Arial" panose="020B0604020202020204" pitchFamily="34" charset="0"/>
              </a:rPr>
              <a:t>Permitir la modificación y eliminación de usuarios.</a:t>
            </a:r>
            <a:br>
              <a:rPr lang="es-MX" sz="1600" dirty="0">
                <a:effectLst/>
                <a:latin typeface="Arial" panose="020B0604020202020204" pitchFamily="34" charset="0"/>
                <a:ea typeface="Arial" panose="020B0604020202020204" pitchFamily="34" charset="0"/>
                <a:cs typeface="Arial" panose="020B0604020202020204" pitchFamily="34" charset="0"/>
              </a:rPr>
            </a:br>
            <a:endParaRPr lang="es-CO" sz="1600" dirty="0">
              <a:effectLst/>
              <a:latin typeface="Arial" panose="020B0604020202020204" pitchFamily="34" charset="0"/>
              <a:ea typeface="Calibri" panose="020F0502020204030204" pitchFamily="34" charset="0"/>
              <a:cs typeface="Arial" panose="020B0604020202020204" pitchFamily="34" charset="0"/>
            </a:endParaRPr>
          </a:p>
          <a:p>
            <a:pPr marL="342900" lvl="0" indent="-342900">
              <a:lnSpc>
                <a:spcPct val="107000"/>
              </a:lnSpc>
              <a:spcAft>
                <a:spcPts val="800"/>
              </a:spcAft>
              <a:buFont typeface="Symbol" panose="05050102010706020507" pitchFamily="18" charset="2"/>
              <a:buChar char=""/>
            </a:pPr>
            <a:r>
              <a:rPr lang="es-MX" sz="1600" dirty="0">
                <a:effectLst/>
                <a:latin typeface="Arial" panose="020B0604020202020204" pitchFamily="34" charset="0"/>
                <a:ea typeface="Arial" panose="020B0604020202020204" pitchFamily="34" charset="0"/>
                <a:cs typeface="Arial" panose="020B0604020202020204" pitchFamily="34" charset="0"/>
              </a:rPr>
              <a:t>Facilitar la gestión de datos como ejercicios, circuitos, rutinas y dietas.</a:t>
            </a:r>
            <a:br>
              <a:rPr lang="es-MX" sz="1600" dirty="0">
                <a:effectLst/>
                <a:latin typeface="Arial" panose="020B0604020202020204" pitchFamily="34" charset="0"/>
                <a:ea typeface="Arial" panose="020B0604020202020204" pitchFamily="34" charset="0"/>
                <a:cs typeface="Arial" panose="020B0604020202020204" pitchFamily="34" charset="0"/>
              </a:rPr>
            </a:br>
            <a:endParaRPr lang="es-MX" sz="1600" dirty="0">
              <a:effectLst/>
              <a:latin typeface="Arial" panose="020B0604020202020204" pitchFamily="34" charset="0"/>
              <a:ea typeface="Arial" panose="020B0604020202020204" pitchFamily="34" charset="0"/>
              <a:cs typeface="Arial" panose="020B0604020202020204" pitchFamily="34" charset="0"/>
            </a:endParaRPr>
          </a:p>
          <a:p>
            <a:pPr marL="342900" lvl="0" indent="-342900">
              <a:lnSpc>
                <a:spcPct val="107000"/>
              </a:lnSpc>
              <a:buFont typeface="Symbol" panose="05050102010706020507" pitchFamily="18" charset="2"/>
              <a:buChar char=""/>
            </a:pPr>
            <a:r>
              <a:rPr lang="es-MX" sz="1600" dirty="0">
                <a:effectLst/>
                <a:latin typeface="Arial" panose="020B0604020202020204" pitchFamily="34" charset="0"/>
                <a:ea typeface="Arial" panose="020B0604020202020204" pitchFamily="34" charset="0"/>
                <a:cs typeface="Arial" panose="020B0604020202020204" pitchFamily="34" charset="0"/>
              </a:rPr>
              <a:t>Permitir ver en una vista como está compuesto un plan, logrando ver la rutina, dieta, circuitos y ejercicios que componen el plan.</a:t>
            </a:r>
            <a:br>
              <a:rPr lang="es-MX" sz="1600" dirty="0">
                <a:effectLst/>
                <a:latin typeface="Arial" panose="020B0604020202020204" pitchFamily="34" charset="0"/>
                <a:ea typeface="Arial" panose="020B0604020202020204" pitchFamily="34" charset="0"/>
                <a:cs typeface="Arial" panose="020B0604020202020204" pitchFamily="34" charset="0"/>
              </a:rPr>
            </a:br>
            <a:endParaRPr lang="es-CO" sz="1600" dirty="0">
              <a:effectLst/>
              <a:latin typeface="Arial" panose="020B0604020202020204" pitchFamily="34" charset="0"/>
              <a:ea typeface="Calibri" panose="020F0502020204030204" pitchFamily="34" charset="0"/>
              <a:cs typeface="Arial" panose="020B0604020202020204" pitchFamily="34" charset="0"/>
            </a:endParaRPr>
          </a:p>
          <a:p>
            <a:pPr marL="342900" lvl="0" indent="-342900">
              <a:lnSpc>
                <a:spcPct val="107000"/>
              </a:lnSpc>
              <a:spcAft>
                <a:spcPts val="800"/>
              </a:spcAft>
              <a:buFont typeface="Symbol" panose="05050102010706020507" pitchFamily="18" charset="2"/>
              <a:buChar char=""/>
            </a:pPr>
            <a:r>
              <a:rPr lang="es-MX" sz="1600" dirty="0">
                <a:effectLst/>
                <a:latin typeface="Arial" panose="020B0604020202020204" pitchFamily="34" charset="0"/>
                <a:ea typeface="Arial" panose="020B0604020202020204" pitchFamily="34" charset="0"/>
                <a:cs typeface="Arial" panose="020B0604020202020204" pitchFamily="34" charset="0"/>
              </a:rPr>
              <a:t>Visualizar el progreso de los usuarios atreves de pesos que se registran en la página web por ellos mismos. </a:t>
            </a:r>
            <a:br>
              <a:rPr lang="es-MX" sz="1600" dirty="0">
                <a:effectLst/>
                <a:latin typeface="Arial" panose="020B0604020202020204" pitchFamily="34" charset="0"/>
                <a:ea typeface="Arial" panose="020B0604020202020204" pitchFamily="34" charset="0"/>
                <a:cs typeface="Arial" panose="020B0604020202020204" pitchFamily="34" charset="0"/>
              </a:rPr>
            </a:br>
            <a:endParaRPr lang="es-CO" sz="1600" dirty="0">
              <a:effectLst/>
              <a:latin typeface="Arial" panose="020B0604020202020204" pitchFamily="34" charset="0"/>
              <a:ea typeface="Calibri" panose="020F0502020204030204" pitchFamily="34" charset="0"/>
              <a:cs typeface="Arial" panose="020B0604020202020204" pitchFamily="34" charset="0"/>
            </a:endParaRPr>
          </a:p>
          <a:p>
            <a:pPr marL="342900" lvl="0" indent="-342900">
              <a:lnSpc>
                <a:spcPct val="107000"/>
              </a:lnSpc>
              <a:buFont typeface="Symbol" panose="05050102010706020507" pitchFamily="18" charset="2"/>
              <a:buChar char=""/>
            </a:pPr>
            <a:r>
              <a:rPr lang="es-MX" sz="1600" dirty="0">
                <a:effectLst/>
                <a:latin typeface="Arial" panose="020B0604020202020204" pitchFamily="34" charset="0"/>
                <a:ea typeface="Arial" panose="020B0604020202020204" pitchFamily="34" charset="0"/>
                <a:cs typeface="Arial" panose="020B0604020202020204" pitchFamily="34" charset="0"/>
              </a:rPr>
              <a:t>Proteger el software con autenticación a los administradores con su correo y contraseña proporcionada por el Super Administrador. </a:t>
            </a:r>
            <a:br>
              <a:rPr lang="es-MX" sz="1600" dirty="0">
                <a:effectLst/>
                <a:latin typeface="Arial" panose="020B0604020202020204" pitchFamily="34" charset="0"/>
                <a:ea typeface="Arial" panose="020B0604020202020204" pitchFamily="34" charset="0"/>
                <a:cs typeface="Arial" panose="020B0604020202020204" pitchFamily="34" charset="0"/>
              </a:rPr>
            </a:br>
            <a:endParaRPr lang="es-CO" sz="1600" dirty="0">
              <a:effectLst/>
              <a:latin typeface="Arial" panose="020B0604020202020204" pitchFamily="34" charset="0"/>
              <a:ea typeface="Calibri" panose="020F0502020204030204" pitchFamily="34" charset="0"/>
              <a:cs typeface="Arial" panose="020B0604020202020204" pitchFamily="34" charset="0"/>
            </a:endParaRPr>
          </a:p>
          <a:p>
            <a:pPr marL="342900" lvl="0" indent="-342900">
              <a:lnSpc>
                <a:spcPct val="107000"/>
              </a:lnSpc>
              <a:buFont typeface="Symbol" panose="05050102010706020507" pitchFamily="18" charset="2"/>
              <a:buChar char=""/>
            </a:pPr>
            <a:r>
              <a:rPr lang="es-MX" sz="1600" dirty="0">
                <a:effectLst/>
                <a:latin typeface="Arial" panose="020B0604020202020204" pitchFamily="34" charset="0"/>
                <a:ea typeface="Arial" panose="020B0604020202020204" pitchFamily="34" charset="0"/>
                <a:cs typeface="Arial" panose="020B0604020202020204" pitchFamily="34" charset="0"/>
              </a:rPr>
              <a:t>Diseñar una interfaz amigable y eficiente para los administradores que facilite el manejo de planes y usuarios. </a:t>
            </a:r>
            <a:br>
              <a:rPr lang="es-MX" sz="1600" dirty="0">
                <a:effectLst/>
                <a:latin typeface="Arial" panose="020B0604020202020204" pitchFamily="34" charset="0"/>
                <a:ea typeface="Arial" panose="020B0604020202020204" pitchFamily="34" charset="0"/>
                <a:cs typeface="Arial" panose="020B0604020202020204" pitchFamily="34" charset="0"/>
              </a:rPr>
            </a:br>
            <a:endParaRPr lang="es-CO" sz="1600" dirty="0">
              <a:effectLst/>
              <a:latin typeface="Arial" panose="020B0604020202020204" pitchFamily="34" charset="0"/>
              <a:ea typeface="Calibri" panose="020F0502020204030204" pitchFamily="34" charset="0"/>
              <a:cs typeface="Arial" panose="020B0604020202020204" pitchFamily="34" charset="0"/>
            </a:endParaRPr>
          </a:p>
          <a:p>
            <a:pPr marL="342900" lvl="0" indent="-342900">
              <a:lnSpc>
                <a:spcPct val="107000"/>
              </a:lnSpc>
              <a:buFont typeface="Symbol" panose="05050102010706020507" pitchFamily="18" charset="2"/>
              <a:buChar char=""/>
            </a:pPr>
            <a:r>
              <a:rPr lang="es-MX" sz="1600" dirty="0">
                <a:effectLst/>
                <a:latin typeface="Arial" panose="020B0604020202020204" pitchFamily="34" charset="0"/>
                <a:ea typeface="Arial" panose="020B0604020202020204" pitchFamily="34" charset="0"/>
                <a:cs typeface="Arial" panose="020B0604020202020204" pitchFamily="34" charset="0"/>
              </a:rPr>
              <a:t>Permitir al Super Administrador la asignación de roles y permisos a los administradores. </a:t>
            </a:r>
            <a:br>
              <a:rPr lang="es-MX" sz="1600" dirty="0">
                <a:effectLst/>
                <a:latin typeface="Arial" panose="020B0604020202020204" pitchFamily="34" charset="0"/>
                <a:ea typeface="Arial" panose="020B0604020202020204" pitchFamily="34" charset="0"/>
                <a:cs typeface="Arial" panose="020B0604020202020204" pitchFamily="34" charset="0"/>
              </a:rPr>
            </a:br>
            <a:endParaRPr lang="es-CO" sz="1600" dirty="0">
              <a:effectLst/>
              <a:latin typeface="Arial" panose="020B0604020202020204" pitchFamily="34" charset="0"/>
              <a:ea typeface="Calibri" panose="020F0502020204030204" pitchFamily="34" charset="0"/>
              <a:cs typeface="Arial" panose="020B0604020202020204" pitchFamily="34" charset="0"/>
            </a:endParaRPr>
          </a:p>
          <a:p>
            <a:pPr marL="342900" lvl="0" indent="-342900">
              <a:lnSpc>
                <a:spcPct val="107000"/>
              </a:lnSpc>
              <a:spcAft>
                <a:spcPts val="800"/>
              </a:spcAft>
              <a:buFont typeface="Symbol" panose="05050102010706020507" pitchFamily="18" charset="2"/>
              <a:buChar char=""/>
            </a:pPr>
            <a:r>
              <a:rPr lang="es-MX" sz="1600" dirty="0">
                <a:effectLst/>
                <a:latin typeface="Arial" panose="020B0604020202020204" pitchFamily="34" charset="0"/>
                <a:ea typeface="Arial" panose="020B0604020202020204" pitchFamily="34" charset="0"/>
                <a:cs typeface="Arial" panose="020B0604020202020204" pitchFamily="34" charset="0"/>
              </a:rPr>
              <a:t>Permitir al Super Administrador el poder restablecer Ejercicios, Circuitos, Rutinas, Dietas, Planes y Usuarios.</a:t>
            </a:r>
            <a:endParaRPr lang="es-CO" sz="1600" dirty="0">
              <a:effectLst/>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1887933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FEF253-53C4-B5FA-07C7-0B039B14F52F}"/>
              </a:ext>
            </a:extLst>
          </p:cNvPr>
          <p:cNvSpPr txBox="1"/>
          <p:nvPr/>
        </p:nvSpPr>
        <p:spPr>
          <a:xfrm>
            <a:off x="808566" y="2308651"/>
            <a:ext cx="10574867"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6000" b="1" u="none" strike="noStrike" kern="1200" cap="none" spc="0" normalizeH="0" baseline="0" noProof="0" dirty="0">
                <a:ln>
                  <a:noFill/>
                </a:ln>
                <a:solidFill>
                  <a:srgbClr val="4D4D4C"/>
                </a:solidFill>
                <a:effectLst/>
                <a:uLnTx/>
                <a:uFillTx/>
                <a:latin typeface="WORK SANS BOLD ROMAN" pitchFamily="2" charset="77"/>
              </a:rPr>
              <a:t>Tecnologías Utilizadas</a:t>
            </a:r>
            <a:endParaRPr kumimoji="0" lang="es-CO" sz="7200" b="1" u="none" strike="noStrike" kern="1200" cap="none" spc="0" normalizeH="0" baseline="0" noProof="0" dirty="0">
              <a:ln>
                <a:noFill/>
              </a:ln>
              <a:solidFill>
                <a:srgbClr val="4D4D4C"/>
              </a:solidFill>
              <a:effectLst/>
              <a:uLnTx/>
              <a:uFillTx/>
              <a:latin typeface="WORK SANS BOLD ROMAN" pitchFamily="2" charset="77"/>
            </a:endParaRPr>
          </a:p>
        </p:txBody>
      </p:sp>
      <p:cxnSp>
        <p:nvCxnSpPr>
          <p:cNvPr id="3" name="Conector recto 2">
            <a:extLst>
              <a:ext uri="{FF2B5EF4-FFF2-40B4-BE49-F238E27FC236}">
                <a16:creationId xmlns:a16="http://schemas.microsoft.com/office/drawing/2014/main" id="{AE0C963B-97B4-4F66-1B49-0B47BC7F0F1A}"/>
              </a:ext>
            </a:extLst>
          </p:cNvPr>
          <p:cNvCxnSpPr>
            <a:cxnSpLocks/>
          </p:cNvCxnSpPr>
          <p:nvPr/>
        </p:nvCxnSpPr>
        <p:spPr>
          <a:xfrm>
            <a:off x="4972228" y="3324314"/>
            <a:ext cx="2247544" cy="0"/>
          </a:xfrm>
          <a:prstGeom prst="line">
            <a:avLst/>
          </a:prstGeom>
          <a:ln w="12700">
            <a:solidFill>
              <a:srgbClr val="38A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95674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A6C31FC2-6C63-0CB9-C78D-1723D5E9DD66}"/>
              </a:ext>
            </a:extLst>
          </p:cNvPr>
          <p:cNvSpPr txBox="1"/>
          <p:nvPr/>
        </p:nvSpPr>
        <p:spPr>
          <a:xfrm>
            <a:off x="396809" y="339385"/>
            <a:ext cx="5518437" cy="5050293"/>
          </a:xfrm>
          <a:prstGeom prst="rect">
            <a:avLst/>
          </a:prstGeom>
          <a:noFill/>
        </p:spPr>
        <p:txBody>
          <a:bodyPr wrap="square" rtlCol="0">
            <a:spAutoFit/>
          </a:bodyPr>
          <a:lstStyle/>
          <a:p>
            <a:r>
              <a:rPr lang="es-CO" sz="1600" dirty="0"/>
              <a:t>Para el desarrollo de este proyecto se utilizaron los siguientes</a:t>
            </a:r>
          </a:p>
          <a:p>
            <a:r>
              <a:rPr lang="es-CO" sz="1600" b="1" dirty="0">
                <a:effectLst/>
              </a:rPr>
              <a:t>Requerimientos técnicos Software:</a:t>
            </a:r>
          </a:p>
          <a:p>
            <a:endParaRPr lang="es-CO" sz="1600" dirty="0"/>
          </a:p>
          <a:p>
            <a:pPr marL="285750" indent="-285750">
              <a:buFont typeface="Arial" panose="020B0604020202020204" pitchFamily="34" charset="0"/>
              <a:buChar char="•"/>
            </a:pPr>
            <a:r>
              <a:rPr lang="es-CO" sz="1600" b="1" dirty="0"/>
              <a:t>Apache NetBeans IDE 23: </a:t>
            </a:r>
            <a:r>
              <a:rPr lang="es-CO" sz="1600" dirty="0"/>
              <a:t>Entorno de desarrollo donde se codifico el aplicativo</a:t>
            </a:r>
            <a:endParaRPr lang="es-CO" sz="1600" b="1" dirty="0"/>
          </a:p>
          <a:p>
            <a:pPr marL="285750" indent="-285750">
              <a:buFont typeface="Arial" panose="020B0604020202020204" pitchFamily="34" charset="0"/>
              <a:buChar char="•"/>
            </a:pPr>
            <a:r>
              <a:rPr lang="es-ES" sz="1600" b="1" dirty="0"/>
              <a:t>XAMPP Control Panel v3.3.0: </a:t>
            </a:r>
            <a:r>
              <a:rPr lang="es-ES" sz="1600" dirty="0"/>
              <a:t>Usado para la base de datos</a:t>
            </a:r>
          </a:p>
          <a:p>
            <a:endParaRPr lang="es-ES" sz="1600" dirty="0"/>
          </a:p>
          <a:p>
            <a:pPr>
              <a:lnSpc>
                <a:spcPct val="107000"/>
              </a:lnSpc>
              <a:spcBef>
                <a:spcPts val="1800"/>
              </a:spcBef>
              <a:spcAft>
                <a:spcPts val="400"/>
              </a:spcAft>
            </a:pPr>
            <a:r>
              <a:rPr lang="es-CO" sz="1600" b="1" dirty="0">
                <a:effectLst/>
              </a:rPr>
              <a:t>Requerimientos técnicos hardware:</a:t>
            </a:r>
          </a:p>
          <a:p>
            <a:pPr marL="342900" lvl="0" indent="-342900">
              <a:lnSpc>
                <a:spcPct val="107000"/>
              </a:lnSpc>
              <a:spcAft>
                <a:spcPts val="800"/>
              </a:spcAft>
              <a:buFont typeface="Arial" panose="020B0604020202020204" pitchFamily="34" charset="0"/>
              <a:buChar char="●"/>
            </a:pPr>
            <a:r>
              <a:rPr lang="es-CO" sz="1600" dirty="0">
                <a:solidFill>
                  <a:srgbClr val="000000"/>
                </a:solidFill>
                <a:effectLst/>
                <a:ea typeface="Noto Sans Symbols"/>
                <a:cs typeface="Noto Sans Symbols"/>
              </a:rPr>
              <a:t>Requisitos </a:t>
            </a:r>
            <a:r>
              <a:rPr lang="es-CO" sz="1600" dirty="0">
                <a:effectLst/>
                <a:ea typeface="Noto Sans Symbols"/>
                <a:cs typeface="Noto Sans Symbols"/>
              </a:rPr>
              <a:t>mínimos</a:t>
            </a:r>
            <a:r>
              <a:rPr lang="es-CO" sz="1600" dirty="0">
                <a:solidFill>
                  <a:srgbClr val="000000"/>
                </a:solidFill>
                <a:effectLst/>
                <a:ea typeface="Noto Sans Symbols"/>
                <a:cs typeface="Noto Sans Symbols"/>
              </a:rPr>
              <a:t> de PC:</a:t>
            </a:r>
            <a:endParaRPr lang="es-CO" sz="1600" dirty="0">
              <a:effectLst/>
              <a:ea typeface="Noto Sans Symbols"/>
              <a:cs typeface="Noto Sans Symbols"/>
            </a:endParaRPr>
          </a:p>
          <a:p>
            <a:pPr marL="742950" lvl="1" indent="-285750">
              <a:lnSpc>
                <a:spcPct val="107000"/>
              </a:lnSpc>
              <a:spcAft>
                <a:spcPts val="800"/>
              </a:spcAft>
              <a:buFont typeface="Courier New" panose="02070309020205020404" pitchFamily="49" charset="0"/>
              <a:buChar char="o"/>
            </a:pPr>
            <a:r>
              <a:rPr lang="es-CO" sz="1600" dirty="0">
                <a:solidFill>
                  <a:srgbClr val="000000"/>
                </a:solidFill>
                <a:effectLst/>
                <a:ea typeface="Courier New" panose="02070309020205020404" pitchFamily="49" charset="0"/>
                <a:cs typeface="Courier New" panose="02070309020205020404" pitchFamily="49" charset="0"/>
              </a:rPr>
              <a:t> procesador 2.5hz, .</a:t>
            </a:r>
            <a:endParaRPr lang="es-CO" sz="1600" dirty="0">
              <a:effectLst/>
              <a:ea typeface="Courier New" panose="02070309020205020404" pitchFamily="49" charset="0"/>
              <a:cs typeface="Courier New" panose="02070309020205020404" pitchFamily="49" charset="0"/>
            </a:endParaRPr>
          </a:p>
          <a:p>
            <a:pPr marL="742950" lvl="1" indent="-285750">
              <a:lnSpc>
                <a:spcPct val="107000"/>
              </a:lnSpc>
              <a:spcAft>
                <a:spcPts val="800"/>
              </a:spcAft>
              <a:buFont typeface="Courier New" panose="02070309020205020404" pitchFamily="49" charset="0"/>
              <a:buChar char="o"/>
            </a:pPr>
            <a:r>
              <a:rPr lang="es-CO" sz="1600" dirty="0">
                <a:solidFill>
                  <a:srgbClr val="000000"/>
                </a:solidFill>
                <a:effectLst/>
                <a:ea typeface="Courier New" panose="02070309020205020404" pitchFamily="49" charset="0"/>
                <a:cs typeface="Courier New" panose="02070309020205020404" pitchFamily="49" charset="0"/>
              </a:rPr>
              <a:t>6gb de memoria </a:t>
            </a:r>
            <a:r>
              <a:rPr lang="es-CO" sz="1600" dirty="0" err="1">
                <a:solidFill>
                  <a:srgbClr val="000000"/>
                </a:solidFill>
                <a:effectLst/>
                <a:ea typeface="Courier New" panose="02070309020205020404" pitchFamily="49" charset="0"/>
                <a:cs typeface="Courier New" panose="02070309020205020404" pitchFamily="49" charset="0"/>
              </a:rPr>
              <a:t>ram</a:t>
            </a:r>
            <a:r>
              <a:rPr lang="es-CO" sz="1600" dirty="0">
                <a:solidFill>
                  <a:srgbClr val="000000"/>
                </a:solidFill>
                <a:effectLst/>
                <a:ea typeface="Courier New" panose="02070309020205020404" pitchFamily="49" charset="0"/>
                <a:cs typeface="Courier New" panose="02070309020205020404" pitchFamily="49" charset="0"/>
              </a:rPr>
              <a:t> a 1200hz.</a:t>
            </a:r>
            <a:endParaRPr lang="es-CO" sz="1600" dirty="0">
              <a:effectLst/>
              <a:ea typeface="Courier New" panose="02070309020205020404" pitchFamily="49" charset="0"/>
              <a:cs typeface="Courier New" panose="02070309020205020404" pitchFamily="49" charset="0"/>
            </a:endParaRPr>
          </a:p>
          <a:p>
            <a:pPr marL="342900" lvl="0" indent="-342900">
              <a:lnSpc>
                <a:spcPct val="107000"/>
              </a:lnSpc>
              <a:spcAft>
                <a:spcPts val="800"/>
              </a:spcAft>
              <a:buFont typeface="Arial" panose="020B0604020202020204" pitchFamily="34" charset="0"/>
              <a:buChar char="●"/>
            </a:pPr>
            <a:r>
              <a:rPr lang="es-CO" sz="1600" dirty="0">
                <a:solidFill>
                  <a:srgbClr val="000000"/>
                </a:solidFill>
                <a:effectLst/>
                <a:ea typeface="Noto Sans Symbols"/>
                <a:cs typeface="Noto Sans Symbols"/>
              </a:rPr>
              <a:t>Requisitos recomendados de PC:</a:t>
            </a:r>
            <a:endParaRPr lang="es-CO" sz="1600" dirty="0">
              <a:effectLst/>
              <a:ea typeface="Noto Sans Symbols"/>
              <a:cs typeface="Noto Sans Symbols"/>
            </a:endParaRPr>
          </a:p>
          <a:p>
            <a:pPr marL="742950" lvl="1" indent="-285750">
              <a:lnSpc>
                <a:spcPct val="107000"/>
              </a:lnSpc>
              <a:spcAft>
                <a:spcPts val="800"/>
              </a:spcAft>
              <a:buFont typeface="Courier New" panose="02070309020205020404" pitchFamily="49" charset="0"/>
              <a:buChar char="o"/>
            </a:pPr>
            <a:r>
              <a:rPr lang="es-CO" sz="1600" dirty="0">
                <a:solidFill>
                  <a:srgbClr val="000000"/>
                </a:solidFill>
                <a:effectLst/>
                <a:ea typeface="Courier New" panose="02070309020205020404" pitchFamily="49" charset="0"/>
                <a:cs typeface="Courier New" panose="02070309020205020404" pitchFamily="49" charset="0"/>
              </a:rPr>
              <a:t>Procesador 2.9hz.</a:t>
            </a:r>
            <a:endParaRPr lang="es-CO" sz="1600" dirty="0">
              <a:effectLst/>
              <a:ea typeface="Courier New" panose="02070309020205020404" pitchFamily="49" charset="0"/>
              <a:cs typeface="Courier New" panose="02070309020205020404" pitchFamily="49" charset="0"/>
            </a:endParaRPr>
          </a:p>
          <a:p>
            <a:pPr marL="742950" lvl="1" indent="-285750">
              <a:lnSpc>
                <a:spcPct val="107000"/>
              </a:lnSpc>
              <a:spcAft>
                <a:spcPts val="800"/>
              </a:spcAft>
              <a:buFont typeface="Courier New" panose="02070309020205020404" pitchFamily="49" charset="0"/>
              <a:buChar char="o"/>
            </a:pPr>
            <a:r>
              <a:rPr lang="es-CO" sz="1600" dirty="0">
                <a:solidFill>
                  <a:srgbClr val="000000"/>
                </a:solidFill>
                <a:effectLst/>
                <a:ea typeface="Courier New" panose="02070309020205020404" pitchFamily="49" charset="0"/>
                <a:cs typeface="Courier New" panose="02070309020205020404" pitchFamily="49" charset="0"/>
              </a:rPr>
              <a:t>8gb de memoria </a:t>
            </a:r>
            <a:r>
              <a:rPr lang="es-CO" sz="1600" dirty="0" err="1">
                <a:solidFill>
                  <a:srgbClr val="000000"/>
                </a:solidFill>
                <a:effectLst/>
                <a:ea typeface="Courier New" panose="02070309020205020404" pitchFamily="49" charset="0"/>
                <a:cs typeface="Courier New" panose="02070309020205020404" pitchFamily="49" charset="0"/>
              </a:rPr>
              <a:t>ram</a:t>
            </a:r>
            <a:r>
              <a:rPr lang="es-CO" sz="1600" dirty="0">
                <a:solidFill>
                  <a:srgbClr val="000000"/>
                </a:solidFill>
                <a:effectLst/>
                <a:ea typeface="Courier New" panose="02070309020205020404" pitchFamily="49" charset="0"/>
                <a:cs typeface="Courier New" panose="02070309020205020404" pitchFamily="49" charset="0"/>
              </a:rPr>
              <a:t> a 1600hz.</a:t>
            </a:r>
            <a:endParaRPr lang="es-CO" sz="1600" dirty="0">
              <a:effectLst/>
              <a:ea typeface="Courier New" panose="02070309020205020404" pitchFamily="49" charset="0"/>
              <a:cs typeface="Courier New" panose="02070309020205020404" pitchFamily="49" charset="0"/>
            </a:endParaRPr>
          </a:p>
          <a:p>
            <a:endParaRPr lang="es-ES" sz="1600" dirty="0">
              <a:latin typeface="Work Sans Light Roman" pitchFamily="2" charset="77"/>
            </a:endParaRPr>
          </a:p>
          <a:p>
            <a:pPr marL="285750" indent="-285750">
              <a:buFont typeface="Arial" panose="020B0604020202020204" pitchFamily="34" charset="0"/>
              <a:buChar char="•"/>
            </a:pPr>
            <a:endParaRPr lang="es-ES" sz="1600" dirty="0">
              <a:latin typeface="Work Sans Light Roman" pitchFamily="2" charset="77"/>
            </a:endParaRPr>
          </a:p>
        </p:txBody>
      </p:sp>
    </p:spTree>
    <p:extLst>
      <p:ext uri="{BB962C8B-B14F-4D97-AF65-F5344CB8AC3E}">
        <p14:creationId xmlns:p14="http://schemas.microsoft.com/office/powerpoint/2010/main" val="21338784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FEF253-53C4-B5FA-07C7-0B039B14F52F}"/>
              </a:ext>
            </a:extLst>
          </p:cNvPr>
          <p:cNvSpPr txBox="1"/>
          <p:nvPr/>
        </p:nvSpPr>
        <p:spPr>
          <a:xfrm>
            <a:off x="1388533" y="2238946"/>
            <a:ext cx="9414934"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6000" b="1" dirty="0">
                <a:solidFill>
                  <a:srgbClr val="4D4D4C"/>
                </a:solidFill>
                <a:latin typeface="WORK SANS BOLD ROMAN" pitchFamily="2" charset="77"/>
              </a:rPr>
              <a:t>Requerimientos Funcionales</a:t>
            </a:r>
            <a:endParaRPr kumimoji="0" lang="es-CO" sz="7200" b="1" u="none" strike="noStrike" kern="1200" cap="none" spc="0" normalizeH="0" baseline="0" noProof="0" dirty="0">
              <a:ln>
                <a:noFill/>
              </a:ln>
              <a:solidFill>
                <a:srgbClr val="4D4D4C"/>
              </a:solidFill>
              <a:effectLst/>
              <a:uLnTx/>
              <a:uFillTx/>
              <a:latin typeface="WORK SANS BOLD ROMAN" pitchFamily="2" charset="77"/>
            </a:endParaRPr>
          </a:p>
        </p:txBody>
      </p:sp>
      <p:cxnSp>
        <p:nvCxnSpPr>
          <p:cNvPr id="3" name="Conector recto 2">
            <a:extLst>
              <a:ext uri="{FF2B5EF4-FFF2-40B4-BE49-F238E27FC236}">
                <a16:creationId xmlns:a16="http://schemas.microsoft.com/office/drawing/2014/main" id="{AE0C963B-97B4-4F66-1B49-0B47BC7F0F1A}"/>
              </a:ext>
            </a:extLst>
          </p:cNvPr>
          <p:cNvCxnSpPr>
            <a:cxnSpLocks/>
          </p:cNvCxnSpPr>
          <p:nvPr/>
        </p:nvCxnSpPr>
        <p:spPr>
          <a:xfrm>
            <a:off x="4972228" y="3324314"/>
            <a:ext cx="2247544" cy="0"/>
          </a:xfrm>
          <a:prstGeom prst="line">
            <a:avLst/>
          </a:prstGeom>
          <a:ln w="12700">
            <a:solidFill>
              <a:srgbClr val="38AA00"/>
            </a:solidFill>
          </a:ln>
        </p:spPr>
        <p:style>
          <a:lnRef idx="1">
            <a:schemeClr val="accent1"/>
          </a:lnRef>
          <a:fillRef idx="0">
            <a:schemeClr val="accent1"/>
          </a:fillRef>
          <a:effectRef idx="0">
            <a:schemeClr val="accent1"/>
          </a:effectRef>
          <a:fontRef idx="minor">
            <a:schemeClr val="tx1"/>
          </a:fontRef>
        </p:style>
      </p:cxnSp>
      <p:sp>
        <p:nvSpPr>
          <p:cNvPr id="4" name="CuadroTexto 3">
            <a:extLst>
              <a:ext uri="{FF2B5EF4-FFF2-40B4-BE49-F238E27FC236}">
                <a16:creationId xmlns:a16="http://schemas.microsoft.com/office/drawing/2014/main" id="{9388A4DF-720D-E501-986E-D50B788D2F61}"/>
              </a:ext>
            </a:extLst>
          </p:cNvPr>
          <p:cNvSpPr txBox="1"/>
          <p:nvPr/>
        </p:nvSpPr>
        <p:spPr>
          <a:xfrm>
            <a:off x="4168816" y="3463724"/>
            <a:ext cx="385436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1600" b="0" i="0" u="none" strike="noStrike" kern="1200" cap="none" spc="0" normalizeH="0" baseline="0" noProof="0" dirty="0">
                <a:ln>
                  <a:noFill/>
                </a:ln>
                <a:solidFill>
                  <a:prstClr val="black"/>
                </a:solidFill>
                <a:effectLst/>
                <a:uLnTx/>
                <a:uFillTx/>
                <a:latin typeface="Work Sans Light Roman" pitchFamily="2" charset="77"/>
                <a:ea typeface="+mn-ea"/>
                <a:cs typeface="+mn-cs"/>
              </a:rPr>
              <a:t>Presentes en </a:t>
            </a:r>
            <a:r>
              <a:rPr lang="es-CO" sz="1600" dirty="0">
                <a:solidFill>
                  <a:prstClr val="black"/>
                </a:solidFill>
                <a:latin typeface="Work Sans Light Roman" pitchFamily="2" charset="77"/>
              </a:rPr>
              <a:t>software administrador</a:t>
            </a:r>
            <a:endParaRPr kumimoji="0" lang="es-CO" sz="1600" b="0" i="0" u="none" strike="noStrike" kern="1200" cap="none" spc="0" normalizeH="0" baseline="0" noProof="0" dirty="0">
              <a:ln>
                <a:noFill/>
              </a:ln>
              <a:solidFill>
                <a:prstClr val="black"/>
              </a:solidFill>
              <a:effectLst/>
              <a:uLnTx/>
              <a:uFillTx/>
              <a:latin typeface="Work Sans Light Roman" pitchFamily="2" charset="77"/>
              <a:ea typeface="+mn-ea"/>
              <a:cs typeface="+mn-cs"/>
            </a:endParaRPr>
          </a:p>
        </p:txBody>
      </p:sp>
    </p:spTree>
    <p:extLst>
      <p:ext uri="{BB962C8B-B14F-4D97-AF65-F5344CB8AC3E}">
        <p14:creationId xmlns:p14="http://schemas.microsoft.com/office/powerpoint/2010/main" val="19711428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3C95A-D731-1D92-D630-633248900F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FAE95D6-3850-6CAB-4C0E-EBDD20F110D9}"/>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Requerimientos funcionales</a:t>
            </a:r>
            <a:endParaRPr kumimoji="0" lang="es-CO" sz="3600" b="1" u="none" strike="noStrike" kern="1200" cap="none" spc="0" normalizeH="0" baseline="0" noProof="0" dirty="0">
              <a:ln>
                <a:noFill/>
              </a:ln>
              <a:solidFill>
                <a:srgbClr val="4D4D4C"/>
              </a:solidFill>
              <a:effectLst/>
              <a:uLnTx/>
              <a:uFillTx/>
              <a:latin typeface="WORK SANS BOLD ROMAN" pitchFamily="2" charset="77"/>
            </a:endParaRPr>
          </a:p>
        </p:txBody>
      </p:sp>
      <p:sp>
        <p:nvSpPr>
          <p:cNvPr id="3" name="CuadroTexto 2">
            <a:extLst>
              <a:ext uri="{FF2B5EF4-FFF2-40B4-BE49-F238E27FC236}">
                <a16:creationId xmlns:a16="http://schemas.microsoft.com/office/drawing/2014/main" id="{4E32F311-5B25-777D-75A5-5A57487CB9CA}"/>
              </a:ext>
            </a:extLst>
          </p:cNvPr>
          <p:cNvSpPr txBox="1"/>
          <p:nvPr/>
        </p:nvSpPr>
        <p:spPr>
          <a:xfrm>
            <a:off x="456236" y="1158252"/>
            <a:ext cx="11279528" cy="5452903"/>
          </a:xfrm>
          <a:prstGeom prst="rect">
            <a:avLst/>
          </a:prstGeom>
          <a:noFill/>
        </p:spPr>
        <p:txBody>
          <a:bodyPr wrap="square" rtlCol="0">
            <a:spAutoFit/>
          </a:bodyPr>
          <a:lstStyle/>
          <a:p>
            <a:pPr marL="342900" lvl="0" indent="-342900">
              <a:lnSpc>
                <a:spcPct val="150000"/>
              </a:lnSpc>
              <a:spcBef>
                <a:spcPts val="1400"/>
              </a:spcBef>
              <a:spcAft>
                <a:spcPts val="1400"/>
              </a:spcAft>
              <a:buFont typeface="Symbol" panose="05050102010706020507" pitchFamily="18" charset="2"/>
              <a:buChar char=""/>
            </a:pPr>
            <a:r>
              <a:rPr lang="es-MX" sz="1400" dirty="0">
                <a:solidFill>
                  <a:srgbClr val="000000"/>
                </a:solidFill>
                <a:effectLst/>
                <a:latin typeface="Arial" panose="020B0604020202020204" pitchFamily="34" charset="0"/>
                <a:ea typeface="Arial" panose="020B0604020202020204" pitchFamily="34" charset="0"/>
              </a:rPr>
              <a:t>El sistema debe autenticar a los administradores con su correo y contraseña provenientes de la base de datos y mostrar un mensaje de error si las credenciales son incorrectas.</a:t>
            </a:r>
            <a:endParaRPr lang="es-CO" sz="1400" dirty="0">
              <a:effectLst/>
              <a:latin typeface="Calibri" panose="020F0502020204030204" pitchFamily="34" charset="0"/>
              <a:ea typeface="Calibri" panose="020F0502020204030204" pitchFamily="34" charset="0"/>
            </a:endParaRPr>
          </a:p>
          <a:p>
            <a:pPr marL="342900" lvl="0" indent="-342900">
              <a:lnSpc>
                <a:spcPct val="150000"/>
              </a:lnSpc>
              <a:spcBef>
                <a:spcPts val="1400"/>
              </a:spcBef>
              <a:spcAft>
                <a:spcPts val="1400"/>
              </a:spcAft>
              <a:buFont typeface="Symbol" panose="05050102010706020507" pitchFamily="18" charset="2"/>
              <a:buChar char=""/>
            </a:pPr>
            <a:r>
              <a:rPr lang="es-MX" sz="1400" dirty="0">
                <a:solidFill>
                  <a:srgbClr val="000000"/>
                </a:solidFill>
                <a:effectLst/>
                <a:latin typeface="Arial" panose="020B0604020202020204" pitchFamily="34" charset="0"/>
                <a:ea typeface="Arial" panose="020B0604020202020204" pitchFamily="34" charset="0"/>
              </a:rPr>
              <a:t>El sistema debe verificar si el usuario tiene rol de Administrador, Super Administrador o Usuario, si tiene rol de Usuario negar el acceso.</a:t>
            </a:r>
            <a:endParaRPr lang="es-CO" sz="1400" dirty="0">
              <a:effectLst/>
              <a:latin typeface="Calibri" panose="020F0502020204030204" pitchFamily="34" charset="0"/>
              <a:ea typeface="Calibri" panose="020F0502020204030204" pitchFamily="34" charset="0"/>
            </a:endParaRPr>
          </a:p>
          <a:p>
            <a:pPr marL="342900" lvl="0" indent="-342900">
              <a:lnSpc>
                <a:spcPct val="150000"/>
              </a:lnSpc>
              <a:spcBef>
                <a:spcPts val="1400"/>
              </a:spcBef>
              <a:spcAft>
                <a:spcPts val="1400"/>
              </a:spcAft>
              <a:buFont typeface="Symbol" panose="05050102010706020507" pitchFamily="18" charset="2"/>
              <a:buChar char=""/>
            </a:pPr>
            <a:r>
              <a:rPr lang="es-MX" sz="1400" dirty="0">
                <a:solidFill>
                  <a:srgbClr val="000000"/>
                </a:solidFill>
                <a:effectLst/>
                <a:latin typeface="Arial" panose="020B0604020202020204" pitchFamily="34" charset="0"/>
                <a:ea typeface="Arial" panose="020B0604020202020204" pitchFamily="34" charset="0"/>
              </a:rPr>
              <a:t>El sistema debe permitir </a:t>
            </a:r>
            <a:r>
              <a:rPr lang="es-CO" sz="1400" dirty="0">
                <a:solidFill>
                  <a:srgbClr val="000000"/>
                </a:solidFill>
                <a:effectLst/>
                <a:latin typeface="Arial" panose="020B0604020202020204" pitchFamily="34" charset="0"/>
                <a:ea typeface="Arial" panose="020B0604020202020204" pitchFamily="34" charset="0"/>
              </a:rPr>
              <a:t>crear, editar, leer y borrar ejercicio, circuitos, rutinas, dietas y planes. En caso de ser Super Administrador debe permitir restablecer cualquier circuito, rutina, dieta o plan.</a:t>
            </a:r>
            <a:endParaRPr lang="es-CO" sz="1400" dirty="0">
              <a:effectLst/>
              <a:latin typeface="Calibri" panose="020F0502020204030204" pitchFamily="34" charset="0"/>
              <a:ea typeface="Calibri" panose="020F0502020204030204" pitchFamily="34" charset="0"/>
            </a:endParaRPr>
          </a:p>
          <a:p>
            <a:pPr marL="342900" lvl="0" indent="-342900">
              <a:lnSpc>
                <a:spcPct val="150000"/>
              </a:lnSpc>
              <a:spcBef>
                <a:spcPts val="1400"/>
              </a:spcBef>
              <a:spcAft>
                <a:spcPts val="1400"/>
              </a:spcAft>
              <a:buFont typeface="Symbol" panose="05050102010706020507" pitchFamily="18" charset="2"/>
              <a:buChar char=""/>
            </a:pPr>
            <a:r>
              <a:rPr lang="es-CO" sz="1400" dirty="0">
                <a:solidFill>
                  <a:srgbClr val="000000"/>
                </a:solidFill>
                <a:effectLst/>
                <a:latin typeface="Arial" panose="020B0604020202020204" pitchFamily="34" charset="0"/>
                <a:ea typeface="Arial" panose="020B0604020202020204" pitchFamily="34" charset="0"/>
              </a:rPr>
              <a:t>El sistema debe permitir editar, leer y borrar usuarios. En caso de ser Super Administrador debe permitir editar el rol y restablecer usuarios.</a:t>
            </a:r>
            <a:endParaRPr lang="es-CO" sz="1400" dirty="0">
              <a:effectLst/>
              <a:latin typeface="Calibri" panose="020F0502020204030204" pitchFamily="34" charset="0"/>
              <a:ea typeface="Calibri" panose="020F0502020204030204" pitchFamily="34" charset="0"/>
            </a:endParaRPr>
          </a:p>
          <a:p>
            <a:pPr marL="342900" lvl="0" indent="-342900">
              <a:lnSpc>
                <a:spcPct val="150000"/>
              </a:lnSpc>
              <a:spcBef>
                <a:spcPts val="1400"/>
              </a:spcBef>
              <a:spcAft>
                <a:spcPts val="1400"/>
              </a:spcAft>
              <a:buFont typeface="Symbol" panose="05050102010706020507" pitchFamily="18" charset="2"/>
              <a:buChar char=""/>
            </a:pPr>
            <a:r>
              <a:rPr lang="es-CO" sz="1400" dirty="0">
                <a:solidFill>
                  <a:srgbClr val="000000"/>
                </a:solidFill>
                <a:effectLst/>
                <a:latin typeface="Arial" panose="020B0604020202020204" pitchFamily="34" charset="0"/>
                <a:ea typeface="Arial" panose="020B0604020202020204" pitchFamily="34" charset="0"/>
              </a:rPr>
              <a:t>La interfaz debe permitir cancelar una acción en proceso (Crear o editar).</a:t>
            </a:r>
            <a:endParaRPr lang="es-CO" sz="1400" dirty="0">
              <a:effectLst/>
              <a:latin typeface="Calibri" panose="020F0502020204030204" pitchFamily="34" charset="0"/>
              <a:ea typeface="Calibri" panose="020F0502020204030204" pitchFamily="34" charset="0"/>
            </a:endParaRPr>
          </a:p>
          <a:p>
            <a:pPr marL="342900" lvl="0" indent="-342900">
              <a:lnSpc>
                <a:spcPct val="107000"/>
              </a:lnSpc>
              <a:buFont typeface="Symbol" panose="05050102010706020507" pitchFamily="18" charset="2"/>
              <a:buChar char=""/>
            </a:pPr>
            <a:r>
              <a:rPr lang="es-MX" sz="1400" dirty="0">
                <a:effectLst/>
                <a:latin typeface="Arial" panose="020B0604020202020204" pitchFamily="34" charset="0"/>
                <a:ea typeface="Arial" panose="020B0604020202020204" pitchFamily="34" charset="0"/>
              </a:rPr>
              <a:t>El sistema debe permitir ver en una vista como está compuesto un plan, logrando ver la rutina, dieta, circuitos y ejercicios que componen el plan.</a:t>
            </a:r>
            <a:endParaRPr lang="es-CO" sz="1400" dirty="0">
              <a:effectLst/>
              <a:latin typeface="Calibri" panose="020F0502020204030204" pitchFamily="34" charset="0"/>
              <a:ea typeface="Calibri" panose="020F0502020204030204" pitchFamily="34" charset="0"/>
            </a:endParaRPr>
          </a:p>
          <a:p>
            <a:pPr marL="342900" lvl="0" indent="-342900">
              <a:lnSpc>
                <a:spcPct val="107000"/>
              </a:lnSpc>
              <a:buFont typeface="Symbol" panose="05050102010706020507" pitchFamily="18" charset="2"/>
              <a:buChar char=""/>
            </a:pPr>
            <a:r>
              <a:rPr lang="es-MX" sz="1400" dirty="0">
                <a:effectLst/>
                <a:latin typeface="Arial" panose="020B0604020202020204" pitchFamily="34" charset="0"/>
                <a:ea typeface="Arial" panose="020B0604020202020204" pitchFamily="34" charset="0"/>
              </a:rPr>
              <a:t>Visualizar el progreso de los usuarios atreves de pesos que se registran en la página web por ellos mismos.</a:t>
            </a:r>
            <a:endParaRPr lang="es-CO" sz="1400" dirty="0">
              <a:effectLst/>
              <a:latin typeface="Calibri" panose="020F0502020204030204" pitchFamily="34" charset="0"/>
              <a:ea typeface="Calibri" panose="020F0502020204030204" pitchFamily="34" charset="0"/>
            </a:endParaRPr>
          </a:p>
          <a:p>
            <a:pPr marL="342900" lvl="0" indent="-342900">
              <a:lnSpc>
                <a:spcPct val="150000"/>
              </a:lnSpc>
              <a:spcBef>
                <a:spcPts val="1400"/>
              </a:spcBef>
              <a:spcAft>
                <a:spcPts val="1400"/>
              </a:spcAft>
              <a:buFont typeface="Symbol" panose="05050102010706020507" pitchFamily="18" charset="2"/>
              <a:buChar char=""/>
            </a:pPr>
            <a:r>
              <a:rPr lang="es-MX" sz="1400" dirty="0">
                <a:solidFill>
                  <a:srgbClr val="000000"/>
                </a:solidFill>
                <a:effectLst/>
                <a:latin typeface="Arial" panose="020B0604020202020204" pitchFamily="34" charset="0"/>
                <a:ea typeface="Arial" panose="020B0604020202020204" pitchFamily="34" charset="0"/>
              </a:rPr>
              <a:t>Los campos solo deben recibir datos del tipo permitido en cada campo (número y/o letras).</a:t>
            </a:r>
            <a:endParaRPr lang="es-CO" sz="14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31386535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FEF253-53C4-B5FA-07C7-0B039B14F52F}"/>
              </a:ext>
            </a:extLst>
          </p:cNvPr>
          <p:cNvSpPr txBox="1"/>
          <p:nvPr/>
        </p:nvSpPr>
        <p:spPr>
          <a:xfrm>
            <a:off x="808566" y="2308651"/>
            <a:ext cx="10574867"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6000" b="1" dirty="0">
                <a:solidFill>
                  <a:srgbClr val="4D4D4C"/>
                </a:solidFill>
                <a:latin typeface="WORK SANS BOLD ROMAN" pitchFamily="2" charset="77"/>
              </a:rPr>
              <a:t>Requerimientos No Funcionales</a:t>
            </a:r>
            <a:endParaRPr kumimoji="0" lang="es-CO" sz="7200" b="1" u="none" strike="noStrike" kern="1200" cap="none" spc="0" normalizeH="0" baseline="0" noProof="0" dirty="0">
              <a:ln>
                <a:noFill/>
              </a:ln>
              <a:solidFill>
                <a:srgbClr val="4D4D4C"/>
              </a:solidFill>
              <a:effectLst/>
              <a:uLnTx/>
              <a:uFillTx/>
              <a:latin typeface="WORK SANS BOLD ROMAN" pitchFamily="2" charset="77"/>
            </a:endParaRPr>
          </a:p>
        </p:txBody>
      </p:sp>
      <p:cxnSp>
        <p:nvCxnSpPr>
          <p:cNvPr id="3" name="Conector recto 2">
            <a:extLst>
              <a:ext uri="{FF2B5EF4-FFF2-40B4-BE49-F238E27FC236}">
                <a16:creationId xmlns:a16="http://schemas.microsoft.com/office/drawing/2014/main" id="{AE0C963B-97B4-4F66-1B49-0B47BC7F0F1A}"/>
              </a:ext>
            </a:extLst>
          </p:cNvPr>
          <p:cNvCxnSpPr>
            <a:cxnSpLocks/>
          </p:cNvCxnSpPr>
          <p:nvPr/>
        </p:nvCxnSpPr>
        <p:spPr>
          <a:xfrm>
            <a:off x="4972228" y="3324314"/>
            <a:ext cx="2247544" cy="0"/>
          </a:xfrm>
          <a:prstGeom prst="line">
            <a:avLst/>
          </a:prstGeom>
          <a:ln w="12700">
            <a:solidFill>
              <a:srgbClr val="38AA00"/>
            </a:solidFill>
          </a:ln>
        </p:spPr>
        <p:style>
          <a:lnRef idx="1">
            <a:schemeClr val="accent1"/>
          </a:lnRef>
          <a:fillRef idx="0">
            <a:schemeClr val="accent1"/>
          </a:fillRef>
          <a:effectRef idx="0">
            <a:schemeClr val="accent1"/>
          </a:effectRef>
          <a:fontRef idx="minor">
            <a:schemeClr val="tx1"/>
          </a:fontRef>
        </p:style>
      </p:cxnSp>
      <p:sp>
        <p:nvSpPr>
          <p:cNvPr id="4" name="CuadroTexto 3">
            <a:extLst>
              <a:ext uri="{FF2B5EF4-FFF2-40B4-BE49-F238E27FC236}">
                <a16:creationId xmlns:a16="http://schemas.microsoft.com/office/drawing/2014/main" id="{9388A4DF-720D-E501-986E-D50B788D2F61}"/>
              </a:ext>
            </a:extLst>
          </p:cNvPr>
          <p:cNvSpPr txBox="1"/>
          <p:nvPr/>
        </p:nvSpPr>
        <p:spPr>
          <a:xfrm>
            <a:off x="4168816" y="3463724"/>
            <a:ext cx="385436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1600" b="0" i="0" u="none" strike="noStrike" kern="1200" cap="none" spc="0" normalizeH="0" baseline="0" noProof="0" dirty="0">
                <a:ln>
                  <a:noFill/>
                </a:ln>
                <a:solidFill>
                  <a:prstClr val="black"/>
                </a:solidFill>
                <a:effectLst/>
                <a:uLnTx/>
                <a:uFillTx/>
                <a:latin typeface="Work Sans Light Roman" pitchFamily="2" charset="77"/>
                <a:ea typeface="+mn-ea"/>
                <a:cs typeface="+mn-cs"/>
              </a:rPr>
              <a:t>Presentes en este </a:t>
            </a:r>
            <a:r>
              <a:rPr lang="es-CO" sz="1600" dirty="0">
                <a:solidFill>
                  <a:prstClr val="black"/>
                </a:solidFill>
                <a:latin typeface="Work Sans Light Roman" pitchFamily="2" charset="77"/>
              </a:rPr>
              <a:t>software</a:t>
            </a:r>
            <a:endParaRPr kumimoji="0" lang="es-CO" sz="1600" b="0" i="0" u="none" strike="noStrike" kern="1200" cap="none" spc="0" normalizeH="0" baseline="0" noProof="0" dirty="0">
              <a:ln>
                <a:noFill/>
              </a:ln>
              <a:solidFill>
                <a:prstClr val="black"/>
              </a:solidFill>
              <a:effectLst/>
              <a:uLnTx/>
              <a:uFillTx/>
              <a:latin typeface="Work Sans Light Roman" pitchFamily="2" charset="77"/>
              <a:ea typeface="+mn-ea"/>
              <a:cs typeface="+mn-cs"/>
            </a:endParaRPr>
          </a:p>
        </p:txBody>
      </p:sp>
    </p:spTree>
    <p:extLst>
      <p:ext uri="{BB962C8B-B14F-4D97-AF65-F5344CB8AC3E}">
        <p14:creationId xmlns:p14="http://schemas.microsoft.com/office/powerpoint/2010/main" val="36586299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AC642-0654-A4C9-803D-381AF203231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2130B87-73F4-31D9-4834-16F9802353FF}"/>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Requerimientos no funcionales</a:t>
            </a:r>
            <a:endParaRPr kumimoji="0" lang="es-CO" sz="3600" b="1" u="none" strike="noStrike" kern="1200" cap="none" spc="0" normalizeH="0" baseline="0" noProof="0" dirty="0">
              <a:ln>
                <a:noFill/>
              </a:ln>
              <a:solidFill>
                <a:srgbClr val="4D4D4C"/>
              </a:solidFill>
              <a:effectLst/>
              <a:uLnTx/>
              <a:uFillTx/>
              <a:latin typeface="WORK SANS BOLD ROMAN" pitchFamily="2" charset="77"/>
            </a:endParaRPr>
          </a:p>
        </p:txBody>
      </p:sp>
      <p:sp>
        <p:nvSpPr>
          <p:cNvPr id="3" name="CuadroTexto 2">
            <a:extLst>
              <a:ext uri="{FF2B5EF4-FFF2-40B4-BE49-F238E27FC236}">
                <a16:creationId xmlns:a16="http://schemas.microsoft.com/office/drawing/2014/main" id="{0CDA4D8A-FAC8-5E62-A2DF-1F1B252688AB}"/>
              </a:ext>
            </a:extLst>
          </p:cNvPr>
          <p:cNvSpPr txBox="1"/>
          <p:nvPr/>
        </p:nvSpPr>
        <p:spPr>
          <a:xfrm>
            <a:off x="456236" y="1158252"/>
            <a:ext cx="11279528" cy="5119350"/>
          </a:xfrm>
          <a:prstGeom prst="rect">
            <a:avLst/>
          </a:prstGeom>
          <a:noFill/>
        </p:spPr>
        <p:txBody>
          <a:bodyPr wrap="square" rtlCol="0">
            <a:spAutoFit/>
          </a:bodyPr>
          <a:lstStyle/>
          <a:p>
            <a:pPr marL="342900" lvl="0" indent="-342900">
              <a:lnSpc>
                <a:spcPct val="150000"/>
              </a:lnSpc>
              <a:buFont typeface="Symbol" panose="05050102010706020507" pitchFamily="18" charset="2"/>
              <a:buChar char=""/>
            </a:pPr>
            <a:r>
              <a:rPr lang="es-CO" sz="1600" dirty="0">
                <a:solidFill>
                  <a:srgbClr val="000000"/>
                </a:solidFill>
                <a:effectLst/>
                <a:latin typeface="Arial" panose="020B0604020202020204" pitchFamily="34" charset="0"/>
                <a:ea typeface="Arial" panose="020B0604020202020204" pitchFamily="34" charset="0"/>
              </a:rPr>
              <a:t>Mantener una interfaz fácil de usar y navegar.</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CO" sz="1600" dirty="0">
                <a:solidFill>
                  <a:srgbClr val="000000"/>
                </a:solidFill>
                <a:effectLst/>
                <a:latin typeface="Arial" panose="020B0604020202020204" pitchFamily="34" charset="0"/>
                <a:ea typeface="Arial" panose="020B0604020202020204" pitchFamily="34" charset="0"/>
              </a:rPr>
              <a:t>Facilitar el mantenimiento y actualizaciones.</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CO" sz="1600" dirty="0">
                <a:solidFill>
                  <a:srgbClr val="000000"/>
                </a:solidFill>
                <a:effectLst/>
                <a:latin typeface="Arial" panose="020B0604020202020204" pitchFamily="34" charset="0"/>
                <a:ea typeface="Arial" panose="020B0604020202020204" pitchFamily="34" charset="0"/>
              </a:rPr>
              <a:t>Estructurar el código de manera que sea escalable en el futuro.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CO" sz="1600" dirty="0">
                <a:solidFill>
                  <a:srgbClr val="000000"/>
                </a:solidFill>
                <a:effectLst/>
                <a:latin typeface="Arial" panose="020B0604020202020204" pitchFamily="34" charset="0"/>
                <a:ea typeface="Arial" panose="020B0604020202020204" pitchFamily="34" charset="0"/>
              </a:rPr>
              <a:t>Tener el gestor de proyectos Apache NetBeans IDE 22 (o superior) para lanzar el aplicativo de escritorio.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ES" sz="1600" dirty="0">
                <a:solidFill>
                  <a:srgbClr val="000000"/>
                </a:solidFill>
                <a:effectLst/>
                <a:latin typeface="Arial" panose="020B0604020202020204" pitchFamily="34" charset="0"/>
                <a:ea typeface="Arial" panose="020B0604020202020204" pitchFamily="34" charset="0"/>
              </a:rPr>
              <a:t>Tener MYSQL instalado en el sistema junto con </a:t>
            </a:r>
            <a:r>
              <a:rPr lang="es-ES" sz="1600" dirty="0" err="1">
                <a:solidFill>
                  <a:srgbClr val="000000"/>
                </a:solidFill>
                <a:effectLst/>
                <a:latin typeface="Arial" panose="020B0604020202020204" pitchFamily="34" charset="0"/>
                <a:ea typeface="Arial" panose="020B0604020202020204" pitchFamily="34" charset="0"/>
              </a:rPr>
              <a:t>WorkBench</a:t>
            </a:r>
            <a:r>
              <a:rPr lang="es-ES" sz="1600" dirty="0">
                <a:solidFill>
                  <a:srgbClr val="000000"/>
                </a:solidFill>
                <a:effectLst/>
                <a:latin typeface="Arial" panose="020B0604020202020204" pitchFamily="34" charset="0"/>
                <a:ea typeface="Arial" panose="020B0604020202020204" pitchFamily="34" charset="0"/>
              </a:rPr>
              <a:t>, o algún otro gestor como </a:t>
            </a:r>
            <a:r>
              <a:rPr lang="es-ES" sz="1600" dirty="0" err="1">
                <a:solidFill>
                  <a:srgbClr val="000000"/>
                </a:solidFill>
                <a:effectLst/>
                <a:latin typeface="Arial" panose="020B0604020202020204" pitchFamily="34" charset="0"/>
                <a:ea typeface="Arial" panose="020B0604020202020204" pitchFamily="34" charset="0"/>
              </a:rPr>
              <a:t>Laragon</a:t>
            </a:r>
            <a:r>
              <a:rPr lang="es-ES" sz="1600" dirty="0">
                <a:solidFill>
                  <a:srgbClr val="000000"/>
                </a:solidFill>
                <a:effectLst/>
                <a:latin typeface="Arial" panose="020B0604020202020204" pitchFamily="34" charset="0"/>
                <a:ea typeface="Arial" panose="020B0604020202020204" pitchFamily="34" charset="0"/>
              </a:rPr>
              <a:t> o XAMPP, para lanzar la base de datos.</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ES" sz="1600" dirty="0">
                <a:solidFill>
                  <a:srgbClr val="000000"/>
                </a:solidFill>
                <a:effectLst/>
                <a:latin typeface="Arial" panose="020B0604020202020204" pitchFamily="34" charset="0"/>
                <a:ea typeface="Arial" panose="020B0604020202020204" pitchFamily="34" charset="0"/>
              </a:rPr>
              <a:t>Tener instalado el JDK 22 para lanzar tanto el aplicativo de escritorio.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ES" sz="1600" dirty="0">
                <a:solidFill>
                  <a:srgbClr val="000000"/>
                </a:solidFill>
                <a:effectLst/>
                <a:latin typeface="Arial" panose="020B0604020202020204" pitchFamily="34" charset="0"/>
                <a:ea typeface="Arial" panose="020B0604020202020204" pitchFamily="34" charset="0"/>
              </a:rPr>
              <a:t>Librería </a:t>
            </a:r>
            <a:r>
              <a:rPr lang="es-ES" sz="1600" dirty="0" err="1">
                <a:solidFill>
                  <a:srgbClr val="000000"/>
                </a:solidFill>
                <a:effectLst/>
                <a:latin typeface="Arial" panose="020B0604020202020204" pitchFamily="34" charset="0"/>
                <a:ea typeface="Arial" panose="020B0604020202020204" pitchFamily="34" charset="0"/>
              </a:rPr>
              <a:t>AbsoluteLayout</a:t>
            </a:r>
            <a:r>
              <a:rPr lang="es-ES" sz="1600" dirty="0">
                <a:solidFill>
                  <a:srgbClr val="000000"/>
                </a:solidFill>
                <a:effectLst/>
                <a:latin typeface="Arial" panose="020B0604020202020204" pitchFamily="34" charset="0"/>
                <a:ea typeface="Arial" panose="020B0604020202020204" pitchFamily="34" charset="0"/>
              </a:rPr>
              <a:t> y My-sql-connector-java.8.0.18 para el correcto funcionamiento.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ES" sz="1600" dirty="0">
                <a:solidFill>
                  <a:srgbClr val="000000"/>
                </a:solidFill>
                <a:effectLst/>
                <a:latin typeface="Arial" panose="020B0604020202020204" pitchFamily="34" charset="0"/>
                <a:ea typeface="Arial" panose="020B0604020202020204" pitchFamily="34" charset="0"/>
              </a:rPr>
              <a:t>Una computadora con un procesador de mínimo 2.6hz, 8 de RAM a 1600hz mínimo.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spcAft>
                <a:spcPts val="800"/>
              </a:spcAft>
              <a:buFont typeface="Symbol" panose="05050102010706020507" pitchFamily="18" charset="2"/>
              <a:buChar char=""/>
            </a:pPr>
            <a:r>
              <a:rPr lang="es-ES" sz="1600" dirty="0">
                <a:solidFill>
                  <a:srgbClr val="000000"/>
                </a:solidFill>
                <a:effectLst/>
                <a:latin typeface="Arial" panose="020B0604020202020204" pitchFamily="34" charset="0"/>
                <a:ea typeface="Arial" panose="020B0604020202020204" pitchFamily="34" charset="0"/>
              </a:rPr>
              <a:t>Capacitación necesaria para la buena usabilidad del software</a:t>
            </a:r>
            <a:endParaRPr lang="es-CO" sz="1600" dirty="0">
              <a:effectLst/>
              <a:latin typeface="Calibri" panose="020F0502020204030204" pitchFamily="34" charset="0"/>
              <a:ea typeface="Calibri" panose="020F0502020204030204" pitchFamily="34" charset="0"/>
            </a:endParaRPr>
          </a:p>
          <a:p>
            <a:pPr marL="285750" indent="-285750">
              <a:buFont typeface="Arial" panose="020B0604020202020204" pitchFamily="34" charset="0"/>
              <a:buChar char="•"/>
            </a:pPr>
            <a:endParaRPr lang="es-ES" sz="2000" dirty="0">
              <a:latin typeface="Work Sans Light Roman" pitchFamily="2" charset="77"/>
            </a:endParaRPr>
          </a:p>
          <a:p>
            <a:pPr marL="285750" indent="-285750">
              <a:buFont typeface="Arial" panose="020B0604020202020204" pitchFamily="34" charset="0"/>
              <a:buChar char="•"/>
            </a:pPr>
            <a:endParaRPr lang="es-ES" sz="2000" dirty="0">
              <a:latin typeface="Work Sans Light Roman" pitchFamily="2" charset="77"/>
            </a:endParaRPr>
          </a:p>
          <a:p>
            <a:pPr marL="285750" indent="-285750">
              <a:buFont typeface="Arial" panose="020B0604020202020204" pitchFamily="34" charset="0"/>
              <a:buChar char="•"/>
            </a:pPr>
            <a:endParaRPr lang="es-ES" sz="2000" dirty="0">
              <a:latin typeface="Work Sans Light Roman" pitchFamily="2" charset="77"/>
            </a:endParaRPr>
          </a:p>
          <a:p>
            <a:pPr marL="285750" indent="-285750">
              <a:buFont typeface="Arial" panose="020B0604020202020204" pitchFamily="34" charset="0"/>
              <a:buChar char="•"/>
            </a:pPr>
            <a:endParaRPr lang="es-ES" sz="2000" dirty="0"/>
          </a:p>
        </p:txBody>
      </p:sp>
    </p:spTree>
    <p:extLst>
      <p:ext uri="{BB962C8B-B14F-4D97-AF65-F5344CB8AC3E}">
        <p14:creationId xmlns:p14="http://schemas.microsoft.com/office/powerpoint/2010/main" val="738593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FEF253-53C4-B5FA-07C7-0B039B14F52F}"/>
              </a:ext>
            </a:extLst>
          </p:cNvPr>
          <p:cNvSpPr txBox="1"/>
          <p:nvPr/>
        </p:nvSpPr>
        <p:spPr>
          <a:xfrm>
            <a:off x="808566" y="2308651"/>
            <a:ext cx="10574867"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6000" b="1" dirty="0">
                <a:solidFill>
                  <a:srgbClr val="4D4D4C"/>
                </a:solidFill>
                <a:latin typeface="WORK SANS BOLD ROMAN" pitchFamily="2" charset="77"/>
              </a:rPr>
              <a:t>Base de datos</a:t>
            </a:r>
            <a:endParaRPr kumimoji="0" lang="es-CO" sz="7200" b="1" u="none" strike="noStrike" kern="1200" cap="none" spc="0" normalizeH="0" baseline="0" noProof="0" dirty="0">
              <a:ln>
                <a:noFill/>
              </a:ln>
              <a:solidFill>
                <a:srgbClr val="4D4D4C"/>
              </a:solidFill>
              <a:effectLst/>
              <a:uLnTx/>
              <a:uFillTx/>
              <a:latin typeface="WORK SANS BOLD ROMAN" pitchFamily="2" charset="77"/>
            </a:endParaRPr>
          </a:p>
        </p:txBody>
      </p:sp>
      <p:cxnSp>
        <p:nvCxnSpPr>
          <p:cNvPr id="3" name="Conector recto 2">
            <a:extLst>
              <a:ext uri="{FF2B5EF4-FFF2-40B4-BE49-F238E27FC236}">
                <a16:creationId xmlns:a16="http://schemas.microsoft.com/office/drawing/2014/main" id="{AE0C963B-97B4-4F66-1B49-0B47BC7F0F1A}"/>
              </a:ext>
            </a:extLst>
          </p:cNvPr>
          <p:cNvCxnSpPr>
            <a:cxnSpLocks/>
          </p:cNvCxnSpPr>
          <p:nvPr/>
        </p:nvCxnSpPr>
        <p:spPr>
          <a:xfrm>
            <a:off x="4972228" y="3324314"/>
            <a:ext cx="2247544" cy="0"/>
          </a:xfrm>
          <a:prstGeom prst="line">
            <a:avLst/>
          </a:prstGeom>
          <a:ln w="12700">
            <a:solidFill>
              <a:srgbClr val="38A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38809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CE75F1-F343-8856-BC69-4BB6B82BF3E4}"/>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Diagramado de Base de datos</a:t>
            </a:r>
            <a:endParaRPr kumimoji="0" lang="es-CO" sz="3600" b="1" u="none" strike="noStrike" kern="1200" cap="none" spc="0" normalizeH="0" baseline="0" noProof="0" dirty="0">
              <a:ln>
                <a:noFill/>
              </a:ln>
              <a:solidFill>
                <a:srgbClr val="4D4D4C"/>
              </a:solidFill>
              <a:effectLst/>
              <a:uLnTx/>
              <a:uFillTx/>
              <a:latin typeface="WORK SANS BOLD ROMAN" pitchFamily="2" charset="77"/>
            </a:endParaRPr>
          </a:p>
        </p:txBody>
      </p:sp>
      <p:pic>
        <p:nvPicPr>
          <p:cNvPr id="5" name="Imagen 4">
            <a:extLst>
              <a:ext uri="{FF2B5EF4-FFF2-40B4-BE49-F238E27FC236}">
                <a16:creationId xmlns:a16="http://schemas.microsoft.com/office/drawing/2014/main" id="{DF9EE729-6EBE-D917-A14E-E309BBAB3637}"/>
              </a:ext>
            </a:extLst>
          </p:cNvPr>
          <p:cNvPicPr>
            <a:picLocks noChangeAspect="1"/>
          </p:cNvPicPr>
          <p:nvPr/>
        </p:nvPicPr>
        <p:blipFill>
          <a:blip r:embed="rId2"/>
          <a:stretch>
            <a:fillRect/>
          </a:stretch>
        </p:blipFill>
        <p:spPr>
          <a:xfrm>
            <a:off x="687552" y="977200"/>
            <a:ext cx="10816896" cy="5333514"/>
          </a:xfrm>
          <a:prstGeom prst="rect">
            <a:avLst/>
          </a:prstGeom>
        </p:spPr>
      </p:pic>
    </p:spTree>
    <p:extLst>
      <p:ext uri="{BB962C8B-B14F-4D97-AF65-F5344CB8AC3E}">
        <p14:creationId xmlns:p14="http://schemas.microsoft.com/office/powerpoint/2010/main" val="781055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35BFFB67-C3D4-337D-C327-AB25D270EADA}"/>
              </a:ext>
            </a:extLst>
          </p:cNvPr>
          <p:cNvSpPr txBox="1"/>
          <p:nvPr/>
        </p:nvSpPr>
        <p:spPr>
          <a:xfrm>
            <a:off x="4185162" y="2623935"/>
            <a:ext cx="3821688" cy="1015663"/>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6000" b="1" u="none" strike="noStrike" kern="1200" cap="none" spc="0" normalizeH="0" baseline="0" noProof="0" dirty="0">
                <a:ln>
                  <a:noFill/>
                </a:ln>
                <a:solidFill>
                  <a:schemeClr val="bg1"/>
                </a:solidFill>
                <a:effectLst/>
                <a:uLnTx/>
                <a:uFillTx/>
                <a:latin typeface="WORK SANS BOLD ROMAN" pitchFamily="2" charset="77"/>
              </a:rPr>
              <a:t>Bibliografía</a:t>
            </a:r>
            <a:endParaRPr kumimoji="0" lang="es-CO" sz="7200" b="1" u="none" strike="noStrike" kern="1200" cap="none" spc="0" normalizeH="0" baseline="0" noProof="0" dirty="0">
              <a:ln>
                <a:noFill/>
              </a:ln>
              <a:solidFill>
                <a:schemeClr val="bg1"/>
              </a:solidFill>
              <a:effectLst/>
              <a:uLnTx/>
              <a:uFillTx/>
              <a:latin typeface="WORK SANS BOLD ROMAN" pitchFamily="2" charset="77"/>
            </a:endParaRPr>
          </a:p>
        </p:txBody>
      </p:sp>
      <p:cxnSp>
        <p:nvCxnSpPr>
          <p:cNvPr id="6" name="Conector recto 5">
            <a:extLst>
              <a:ext uri="{FF2B5EF4-FFF2-40B4-BE49-F238E27FC236}">
                <a16:creationId xmlns:a16="http://schemas.microsoft.com/office/drawing/2014/main" id="{38CE8666-1D2A-4D01-34E5-54FD74A39FC0}"/>
              </a:ext>
            </a:extLst>
          </p:cNvPr>
          <p:cNvCxnSpPr>
            <a:cxnSpLocks/>
          </p:cNvCxnSpPr>
          <p:nvPr/>
        </p:nvCxnSpPr>
        <p:spPr>
          <a:xfrm>
            <a:off x="5013630" y="3555133"/>
            <a:ext cx="224754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91846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D270-413B-35DB-E1BC-30115C0943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3CC1F9F-73F9-402E-E097-89DE62AA5944}"/>
              </a:ext>
            </a:extLst>
          </p:cNvPr>
          <p:cNvSpPr txBox="1">
            <a:spLocks/>
          </p:cNvSpPr>
          <p:nvPr/>
        </p:nvSpPr>
        <p:spPr>
          <a:xfrm>
            <a:off x="447769" y="24734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Bibliografía</a:t>
            </a:r>
            <a:endParaRPr kumimoji="0" lang="es-CO" sz="3600" b="1" u="none" strike="noStrike" kern="1200" cap="none" spc="0" normalizeH="0" baseline="0" noProof="0" dirty="0">
              <a:ln>
                <a:noFill/>
              </a:ln>
              <a:solidFill>
                <a:srgbClr val="4D4D4C"/>
              </a:solidFill>
              <a:effectLst/>
              <a:uLnTx/>
              <a:uFillTx/>
              <a:latin typeface="WORK SANS BOLD ROMAN" pitchFamily="2" charset="77"/>
            </a:endParaRPr>
          </a:p>
        </p:txBody>
      </p:sp>
      <p:sp>
        <p:nvSpPr>
          <p:cNvPr id="3" name="CuadroTexto 2">
            <a:extLst>
              <a:ext uri="{FF2B5EF4-FFF2-40B4-BE49-F238E27FC236}">
                <a16:creationId xmlns:a16="http://schemas.microsoft.com/office/drawing/2014/main" id="{CA2F5B55-C7E4-FB44-5A54-78117A076BDC}"/>
              </a:ext>
            </a:extLst>
          </p:cNvPr>
          <p:cNvSpPr txBox="1"/>
          <p:nvPr/>
        </p:nvSpPr>
        <p:spPr>
          <a:xfrm>
            <a:off x="447769" y="988912"/>
            <a:ext cx="11279528" cy="6217087"/>
          </a:xfrm>
          <a:prstGeom prst="rect">
            <a:avLst/>
          </a:prstGeom>
          <a:noFill/>
        </p:spPr>
        <p:txBody>
          <a:bodyPr wrap="square" rtlCol="0">
            <a:spAutoFit/>
          </a:bodyPr>
          <a:lstStyle/>
          <a:p>
            <a:r>
              <a:rPr lang="es-ES" i="1" dirty="0"/>
              <a:t>ChatGPT</a:t>
            </a:r>
            <a:r>
              <a:rPr lang="es-ES" dirty="0"/>
              <a:t>. (s/f). Chatgpt.com. Recuperado el 14 de noviembre de 2024, de </a:t>
            </a:r>
            <a:r>
              <a:rPr lang="es-ES" dirty="0">
                <a:hlinkClick r:id="rId2"/>
              </a:rPr>
              <a:t>https://chatgpt.com/</a:t>
            </a:r>
            <a:endParaRPr lang="es-ES" dirty="0"/>
          </a:p>
          <a:p>
            <a:endParaRPr lang="es-ES" dirty="0"/>
          </a:p>
          <a:p>
            <a:r>
              <a:rPr lang="es-ES" dirty="0"/>
              <a:t>Durán, M. (2022, diciembre 5). </a:t>
            </a:r>
            <a:r>
              <a:rPr lang="es-ES" i="1" dirty="0"/>
              <a:t>Qué es un objeto en Java, cuáles son sus elementos y cómo crearlo</a:t>
            </a:r>
            <a:r>
              <a:rPr lang="es-ES" dirty="0"/>
              <a:t>. Hubspot.es. </a:t>
            </a:r>
            <a:r>
              <a:rPr lang="es-ES" dirty="0">
                <a:hlinkClick r:id="rId3"/>
              </a:rPr>
              <a:t>https://blog.hubspot.es/website/que-es-objeto-java</a:t>
            </a:r>
            <a:endParaRPr lang="es-ES" dirty="0"/>
          </a:p>
          <a:p>
            <a:endParaRPr lang="es-ES" dirty="0"/>
          </a:p>
          <a:p>
            <a:r>
              <a:rPr lang="es-ES" i="1" dirty="0"/>
              <a:t>Guía de MySQL</a:t>
            </a:r>
            <a:r>
              <a:rPr lang="es-ES" dirty="0"/>
              <a:t>. (s/f). Edu.ve. Recuperado el 14 de noviembre de 2024, de </a:t>
            </a:r>
            <a:r>
              <a:rPr lang="es-ES" dirty="0">
                <a:hlinkClick r:id="rId4"/>
              </a:rPr>
              <a:t>https://uneweb.edu.ve/tuto-docs/guia-mysql-1.pdf</a:t>
            </a:r>
            <a:endParaRPr lang="es-ES" dirty="0"/>
          </a:p>
          <a:p>
            <a:endParaRPr lang="es-ES" dirty="0"/>
          </a:p>
          <a:p>
            <a:r>
              <a:rPr lang="es-ES" i="1" dirty="0" err="1"/>
              <a:t>How</a:t>
            </a:r>
            <a:r>
              <a:rPr lang="es-ES" i="1" dirty="0"/>
              <a:t> </a:t>
            </a:r>
            <a:r>
              <a:rPr lang="es-ES" i="1" dirty="0" err="1"/>
              <a:t>to</a:t>
            </a:r>
            <a:r>
              <a:rPr lang="es-ES" i="1" dirty="0"/>
              <a:t> use combo boxes</a:t>
            </a:r>
            <a:r>
              <a:rPr lang="es-ES" dirty="0"/>
              <a:t>. (s/f). Oracle.com. Recuperado el 14 de noviembre de 2024, de </a:t>
            </a:r>
            <a:r>
              <a:rPr lang="es-ES" dirty="0">
                <a:hlinkClick r:id="rId5"/>
              </a:rPr>
              <a:t>https://docs.oracle.com/javase/tutorial/uiswing/components/combobox.html</a:t>
            </a:r>
            <a:endParaRPr lang="es-ES" dirty="0"/>
          </a:p>
          <a:p>
            <a:endParaRPr lang="es-ES" dirty="0"/>
          </a:p>
          <a:p>
            <a:r>
              <a:rPr lang="es-ES" i="1" dirty="0"/>
              <a:t>P.O.O — Tema 6 — Interfaces gráficas de usuario Carlos Cervigón</a:t>
            </a:r>
            <a:r>
              <a:rPr lang="es-ES" dirty="0"/>
              <a:t>. (s/f). Ucm.es. Recuperado el 14 de noviembre de 2024, de </a:t>
            </a:r>
            <a:r>
              <a:rPr lang="es-ES" dirty="0">
                <a:hlinkClick r:id="rId6"/>
              </a:rPr>
              <a:t>https://www.fdi.ucm.es/profesor/jpavon/poo/tema6resumido.pdf</a:t>
            </a:r>
            <a:endParaRPr lang="es-ES" dirty="0"/>
          </a:p>
          <a:p>
            <a:endParaRPr lang="es-ES" dirty="0"/>
          </a:p>
          <a:p>
            <a:r>
              <a:rPr lang="es-ES" dirty="0"/>
              <a:t>Rincón, J. G. (s/f). </a:t>
            </a:r>
            <a:r>
              <a:rPr lang="es-ES" i="1" dirty="0"/>
              <a:t>Jairo García Rincón</a:t>
            </a:r>
            <a:r>
              <a:rPr lang="es-ES" dirty="0"/>
              <a:t>. Jairogarciarincon.com. Recuperado el 14 de noviembre de 2024, de </a:t>
            </a:r>
            <a:r>
              <a:rPr lang="es-ES" dirty="0">
                <a:hlinkClick r:id="rId7"/>
              </a:rPr>
              <a:t>https://www.jairogarciarincon.com/clase/interfaces-de-usuario-con-java-swing/componentes-jframe-jlabel-y-jdialog-dialogos-modales</a:t>
            </a:r>
            <a:endParaRPr lang="es-ES" dirty="0"/>
          </a:p>
          <a:p>
            <a:endParaRPr lang="es-ES" dirty="0"/>
          </a:p>
          <a:p>
            <a:r>
              <a:rPr lang="es-ES" i="1" dirty="0"/>
              <a:t>Swing - JFrame</a:t>
            </a:r>
            <a:r>
              <a:rPr lang="es-ES" dirty="0"/>
              <a:t>. (s/f). Tutorialesprogramacionya.com. Recuperado el 14 de noviembre de 2024, de </a:t>
            </a:r>
            <a:r>
              <a:rPr lang="es-ES" dirty="0">
                <a:hlinkClick r:id="rId8"/>
              </a:rPr>
              <a:t>https://www.tutorialesprogramacionya.com/javaya/detalleconcepto.php?codigo=104&amp;punto=&amp;inicio=20</a:t>
            </a:r>
            <a:endParaRPr lang="es-ES" dirty="0"/>
          </a:p>
          <a:p>
            <a:endParaRPr lang="es-ES" dirty="0"/>
          </a:p>
          <a:p>
            <a:pPr marL="285750" indent="-285750">
              <a:buFont typeface="Arial" panose="020B0604020202020204" pitchFamily="34" charset="0"/>
              <a:buChar char="•"/>
            </a:pPr>
            <a:endParaRPr lang="es-ES" sz="2000" dirty="0"/>
          </a:p>
        </p:txBody>
      </p:sp>
    </p:spTree>
    <p:extLst>
      <p:ext uri="{BB962C8B-B14F-4D97-AF65-F5344CB8AC3E}">
        <p14:creationId xmlns:p14="http://schemas.microsoft.com/office/powerpoint/2010/main" val="10958451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462668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4084</TotalTime>
  <Words>1130</Words>
  <Application>Microsoft Office PowerPoint</Application>
  <PresentationFormat>Panorámica</PresentationFormat>
  <Paragraphs>83</Paragraphs>
  <Slides>17</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17</vt:i4>
      </vt:variant>
    </vt:vector>
  </HeadingPairs>
  <TitlesOfParts>
    <vt:vector size="27" baseType="lpstr">
      <vt:lpstr>Arial</vt:lpstr>
      <vt:lpstr>Calibri</vt:lpstr>
      <vt:lpstr>Calibri Light</vt:lpstr>
      <vt:lpstr>Courier New</vt:lpstr>
      <vt:lpstr>Noto Sans Symbols</vt:lpstr>
      <vt:lpstr>Symbol</vt:lpstr>
      <vt:lpstr>Work Sans Bold Roman</vt:lpstr>
      <vt:lpstr>Work Sans Bold Roman</vt:lpstr>
      <vt:lpstr>Work Sans Light Roman</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David Pulido</cp:lastModifiedBy>
  <cp:revision>84</cp:revision>
  <dcterms:created xsi:type="dcterms:W3CDTF">2020-10-01T23:51:28Z</dcterms:created>
  <dcterms:modified xsi:type="dcterms:W3CDTF">2025-02-01T15:12:23Z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