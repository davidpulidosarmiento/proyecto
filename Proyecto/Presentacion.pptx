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538" r:id="rId2"/>
    <p:sldId id="552" r:id="rId3"/>
    <p:sldId id="554" r:id="rId4"/>
    <p:sldId id="556" r:id="rId5"/>
    <p:sldId id="558" r:id="rId6"/>
    <p:sldId id="562" r:id="rId7"/>
    <p:sldId id="535" r:id="rId8"/>
    <p:sldId id="536" r:id="rId9"/>
    <p:sldId id="566" r:id="rId10"/>
    <p:sldId id="567" r:id="rId11"/>
    <p:sldId id="568" r:id="rId12"/>
    <p:sldId id="569" r:id="rId13"/>
    <p:sldId id="570" r:id="rId14"/>
    <p:sldId id="546" r:id="rId15"/>
    <p:sldId id="571" r:id="rId16"/>
    <p:sldId id="550" r:id="rId17"/>
    <p:sldId id="551" r:id="rId18"/>
    <p:sldId id="541" r:id="rId19"/>
    <p:sldId id="572" r:id="rId20"/>
    <p:sldId id="531" r:id="rId2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C"/>
    <a:srgbClr val="343433"/>
    <a:srgbClr val="FF6C00"/>
    <a:srgbClr val="38AA00"/>
    <a:srgbClr val="766363"/>
    <a:srgbClr val="FFF5EA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7242"/>
  </p:normalViewPr>
  <p:slideViewPr>
    <p:cSldViewPr snapToGrid="0">
      <p:cViewPr varScale="1">
        <p:scale>
          <a:sx n="113" d="100"/>
          <a:sy n="113" d="100"/>
        </p:scale>
        <p:origin x="570" y="114"/>
      </p:cViewPr>
      <p:guideLst>
        <p:guide orient="horz" pos="595"/>
        <p:guide pos="3840"/>
        <p:guide orient="horz" pos="1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29/10/2024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29/10/2024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29/10/2024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29/10/2024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29/10/2024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29/10/2024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29/10/2024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29/10/2024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29/10/2024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29/10/2024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29/10/2024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29/10/2024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29/10/2024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29/10/2024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29/10/2024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uneweb.edu.ve/tuto-docs/guia-mysql-1.pdf" TargetMode="External"/><Relationship Id="rId2" Type="http://schemas.openxmlformats.org/officeDocument/2006/relationships/hyperlink" Target="https://www.fdi.ucm.es/profesor/jpavon/poo/tema6resumido.pdf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hatgpt.com/" TargetMode="External"/><Relationship Id="rId4" Type="http://schemas.openxmlformats.org/officeDocument/2006/relationships/hyperlink" Target="https://blog.hubspot.es/website/que-es-objeto-java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1039871" y="2365570"/>
            <a:ext cx="64536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0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Software administrador y pagina web GigaGains</a:t>
            </a:r>
            <a:endParaRPr kumimoji="0" lang="es-ES" sz="4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9726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1FEF253-53C4-B5FA-07C7-0B039B14F52F}"/>
              </a:ext>
            </a:extLst>
          </p:cNvPr>
          <p:cNvSpPr txBox="1"/>
          <p:nvPr/>
        </p:nvSpPr>
        <p:spPr>
          <a:xfrm>
            <a:off x="808566" y="2308651"/>
            <a:ext cx="105748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6000" b="1" u="none" strike="noStrike" kern="1200" cap="none" spc="0" normalizeH="0" baseline="0" noProof="0" dirty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WORK SANS BOLD ROMAN" pitchFamily="2" charset="77"/>
              </a:rPr>
              <a:t>Objetivos del Proyecto</a:t>
            </a:r>
            <a:endParaRPr kumimoji="0" lang="es-CO" sz="72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E0C963B-97B4-4F66-1B49-0B47BC7F0F1A}"/>
              </a:ext>
            </a:extLst>
          </p:cNvPr>
          <p:cNvCxnSpPr>
            <a:cxnSpLocks/>
          </p:cNvCxnSpPr>
          <p:nvPr/>
        </p:nvCxnSpPr>
        <p:spPr>
          <a:xfrm>
            <a:off x="4972228" y="3324314"/>
            <a:ext cx="2247544" cy="0"/>
          </a:xfrm>
          <a:prstGeom prst="line">
            <a:avLst/>
          </a:prstGeom>
          <a:ln w="12700">
            <a:solidFill>
              <a:srgbClr val="38A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6473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E75F1-F343-8856-BC69-4BB6B82BF3E4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s-CO" sz="3600" b="1" dirty="0">
                <a:solidFill>
                  <a:srgbClr val="4D4D4C"/>
                </a:solidFill>
                <a:latin typeface="WORK SANS BOLD ROMAN" pitchFamily="2" charset="77"/>
              </a:rPr>
              <a:t>Descripción del problema </a:t>
            </a:r>
            <a:endParaRPr kumimoji="0" lang="es-CO" sz="36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C31FC2-6C63-0CB9-C78D-1723D5E9DD66}"/>
              </a:ext>
            </a:extLst>
          </p:cNvPr>
          <p:cNvSpPr txBox="1"/>
          <p:nvPr/>
        </p:nvSpPr>
        <p:spPr>
          <a:xfrm>
            <a:off x="577563" y="1423906"/>
            <a:ext cx="1101192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Actualmente, los entusiastas del fitness se enfrentan a varios desafíos al intentar gestionar su progreso y mantenerse motivados en su viaje de fitness. Entre estos</a:t>
            </a:r>
          </a:p>
          <a:p>
            <a:r>
              <a:rPr lang="es-ES" sz="1600" dirty="0"/>
              <a:t>desafíos se incluyen:</a:t>
            </a:r>
          </a:p>
          <a:p>
            <a:endParaRPr lang="es-ES" sz="1600" dirty="0"/>
          </a:p>
          <a:p>
            <a:r>
              <a:rPr lang="es-ES" sz="1600" dirty="0"/>
              <a:t>1. Falta de Herramientas Integradas: Muchas plataformas ofrecen solo una parte de la solución, lo que obliga a los usuarios a utilizar múltiples aplicaciones y servicios para gestionar diferentes aspectos de su fitness.</a:t>
            </a:r>
          </a:p>
          <a:p>
            <a:endParaRPr lang="es-ES" sz="1600" dirty="0"/>
          </a:p>
          <a:p>
            <a:r>
              <a:rPr lang="es-ES" sz="1600" dirty="0"/>
              <a:t>2. Complejidad y Confusión: Algunas aplicaciones existentes pueden ser difíciles de usar o carecer de la capacidad de personalización, lo que dificulta que los usuarios sigan sus planes de fitness de manera efectiva.</a:t>
            </a:r>
          </a:p>
          <a:p>
            <a:endParaRPr lang="es-ES" sz="1600" dirty="0"/>
          </a:p>
          <a:p>
            <a:endParaRPr lang="es-ES" sz="1600" dirty="0">
              <a:latin typeface="Work Sans Light Roma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92145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E75F1-F343-8856-BC69-4BB6B82BF3E4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s-CO" sz="3600" b="1" dirty="0">
                <a:solidFill>
                  <a:srgbClr val="4D4D4C"/>
                </a:solidFill>
                <a:latin typeface="WORK SANS BOLD ROMAN" pitchFamily="2" charset="77"/>
              </a:rPr>
              <a:t>Descripción del la resolución 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C31FC2-6C63-0CB9-C78D-1723D5E9DD66}"/>
              </a:ext>
            </a:extLst>
          </p:cNvPr>
          <p:cNvSpPr txBox="1"/>
          <p:nvPr/>
        </p:nvSpPr>
        <p:spPr>
          <a:xfrm>
            <a:off x="577563" y="1423906"/>
            <a:ext cx="55184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latin typeface="Work Sans Light Roman" pitchFamily="2" charset="77"/>
              </a:rPr>
              <a:t>Una pagina web que permite ingresar a cualquier persona desde un navegador, creando una cuenta que permite llevar un control de comidas, entrenamientos y objetivos de cada usuario. También un software que permite administrar la base de datos que esta conectada a la pagina web para poder administrar planes, rutinas, circuitos, ejercicios y usuarios.</a:t>
            </a:r>
          </a:p>
        </p:txBody>
      </p:sp>
    </p:spTree>
    <p:extLst>
      <p:ext uri="{BB962C8B-B14F-4D97-AF65-F5344CB8AC3E}">
        <p14:creationId xmlns:p14="http://schemas.microsoft.com/office/powerpoint/2010/main" val="1262376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1FEF253-53C4-B5FA-07C7-0B039B14F52F}"/>
              </a:ext>
            </a:extLst>
          </p:cNvPr>
          <p:cNvSpPr txBox="1"/>
          <p:nvPr/>
        </p:nvSpPr>
        <p:spPr>
          <a:xfrm>
            <a:off x="808566" y="2308651"/>
            <a:ext cx="105748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6000" b="1" u="none" strike="noStrike" kern="1200" cap="none" spc="0" normalizeH="0" baseline="0" noProof="0" dirty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WORK SANS BOLD ROMAN" pitchFamily="2" charset="77"/>
              </a:rPr>
              <a:t>Tecnologías Utilizadas</a:t>
            </a:r>
            <a:endParaRPr kumimoji="0" lang="es-CO" sz="72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E0C963B-97B4-4F66-1B49-0B47BC7F0F1A}"/>
              </a:ext>
            </a:extLst>
          </p:cNvPr>
          <p:cNvCxnSpPr>
            <a:cxnSpLocks/>
          </p:cNvCxnSpPr>
          <p:nvPr/>
        </p:nvCxnSpPr>
        <p:spPr>
          <a:xfrm>
            <a:off x="4972228" y="3324314"/>
            <a:ext cx="2247544" cy="0"/>
          </a:xfrm>
          <a:prstGeom prst="line">
            <a:avLst/>
          </a:prstGeom>
          <a:ln w="12700">
            <a:solidFill>
              <a:srgbClr val="38A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567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6C31FC2-6C63-0CB9-C78D-1723D5E9DD66}"/>
              </a:ext>
            </a:extLst>
          </p:cNvPr>
          <p:cNvSpPr txBox="1"/>
          <p:nvPr/>
        </p:nvSpPr>
        <p:spPr>
          <a:xfrm>
            <a:off x="577563" y="1423906"/>
            <a:ext cx="55184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Work Sans Light Roman" pitchFamily="2" charset="77"/>
              </a:rPr>
              <a:t>Para el desarrollo de este proyecto se utilizaron los siguientes</a:t>
            </a:r>
            <a:endParaRPr lang="es-CO" sz="1600" dirty="0"/>
          </a:p>
          <a:p>
            <a:endParaRPr lang="es-CO" sz="1600" dirty="0">
              <a:latin typeface="Work Sans Light Roman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b="1" dirty="0">
                <a:latin typeface="Work Sans Light Roman" pitchFamily="2" charset="77"/>
              </a:rPr>
              <a:t>Apache NetBeans IDE 23: </a:t>
            </a:r>
            <a:r>
              <a:rPr lang="es-CO" sz="1600" dirty="0">
                <a:latin typeface="Work Sans Light Roman" pitchFamily="2" charset="77"/>
              </a:rPr>
              <a:t>Entorno de desarrollo donde se codifico el aplicativo</a:t>
            </a:r>
            <a:endParaRPr lang="es-CO" sz="1600" b="1" dirty="0">
              <a:latin typeface="Work Sans Light Roman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latin typeface="Work Sans Light Roman" pitchFamily="2" charset="77"/>
              </a:rPr>
              <a:t>XAMPP Control Panel v3.3.0: </a:t>
            </a:r>
            <a:r>
              <a:rPr lang="es-ES" sz="1600" dirty="0">
                <a:latin typeface="Work Sans Light Roman" pitchFamily="2" charset="77"/>
              </a:rPr>
              <a:t>Usado para la base de datos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dirty="0">
              <a:latin typeface="Work Sans Light Roma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33878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1FEF253-53C4-B5FA-07C7-0B039B14F52F}"/>
              </a:ext>
            </a:extLst>
          </p:cNvPr>
          <p:cNvSpPr txBox="1"/>
          <p:nvPr/>
        </p:nvSpPr>
        <p:spPr>
          <a:xfrm>
            <a:off x="1388533" y="2238946"/>
            <a:ext cx="94149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6000" b="1" dirty="0">
                <a:solidFill>
                  <a:srgbClr val="4D4D4C"/>
                </a:solidFill>
                <a:latin typeface="WORK SANS BOLD ROMAN" pitchFamily="2" charset="77"/>
              </a:rPr>
              <a:t>Requerimientos Funcionales</a:t>
            </a:r>
            <a:endParaRPr kumimoji="0" lang="es-CO" sz="72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E0C963B-97B4-4F66-1B49-0B47BC7F0F1A}"/>
              </a:ext>
            </a:extLst>
          </p:cNvPr>
          <p:cNvCxnSpPr>
            <a:cxnSpLocks/>
          </p:cNvCxnSpPr>
          <p:nvPr/>
        </p:nvCxnSpPr>
        <p:spPr>
          <a:xfrm>
            <a:off x="4972228" y="3324314"/>
            <a:ext cx="2247544" cy="0"/>
          </a:xfrm>
          <a:prstGeom prst="line">
            <a:avLst/>
          </a:prstGeom>
          <a:ln w="12700">
            <a:solidFill>
              <a:srgbClr val="38A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9388A4DF-720D-E501-986E-D50B788D2F61}"/>
              </a:ext>
            </a:extLst>
          </p:cNvPr>
          <p:cNvSpPr txBox="1"/>
          <p:nvPr/>
        </p:nvSpPr>
        <p:spPr>
          <a:xfrm>
            <a:off x="4168816" y="3463724"/>
            <a:ext cx="38543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 Roman" pitchFamily="2" charset="77"/>
                <a:ea typeface="+mn-ea"/>
                <a:cs typeface="+mn-cs"/>
              </a:rPr>
              <a:t>Presentes en </a:t>
            </a:r>
            <a:r>
              <a:rPr lang="es-CO" sz="1600" dirty="0">
                <a:solidFill>
                  <a:prstClr val="black"/>
                </a:solidFill>
                <a:latin typeface="Work Sans Light Roman" pitchFamily="2" charset="77"/>
              </a:rPr>
              <a:t>software administrador</a:t>
            </a:r>
            <a:endParaRPr kumimoji="0" lang="es-CO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 Roman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1142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E75F1-F343-8856-BC69-4BB6B82BF3E4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s-CO" sz="3600" b="1" dirty="0">
                <a:solidFill>
                  <a:srgbClr val="4D4D4C"/>
                </a:solidFill>
                <a:latin typeface="WORK SANS BOLD ROMAN" pitchFamily="2" charset="77"/>
              </a:rPr>
              <a:t>Vista </a:t>
            </a:r>
            <a:r>
              <a:rPr lang="es-CO" sz="3600" b="1" dirty="0" err="1">
                <a:solidFill>
                  <a:srgbClr val="4D4D4C"/>
                </a:solidFill>
                <a:latin typeface="WORK SANS BOLD ROMAN" pitchFamily="2" charset="77"/>
              </a:rPr>
              <a:t>Login</a:t>
            </a:r>
            <a:r>
              <a:rPr lang="es-CO" sz="3600" b="1" dirty="0">
                <a:solidFill>
                  <a:srgbClr val="4D4D4C"/>
                </a:solidFill>
                <a:latin typeface="WORK SANS BOLD ROMAN" pitchFamily="2" charset="77"/>
              </a:rPr>
              <a:t> del administrador</a:t>
            </a:r>
            <a:endParaRPr kumimoji="0" lang="es-CO" sz="36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C31FC2-6C63-0CB9-C78D-1723D5E9DD66}"/>
              </a:ext>
            </a:extLst>
          </p:cNvPr>
          <p:cNvSpPr txBox="1"/>
          <p:nvPr/>
        </p:nvSpPr>
        <p:spPr>
          <a:xfrm>
            <a:off x="1810902" y="1889573"/>
            <a:ext cx="76378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El sistema debe autenticar a los usuarios utilizando un nombre de usuario y una contraseña provenientes de la base de datos.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El sistema debe verificar las credenciales contra la base de datos antes de permitir el acceso.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Los usuarios deben ser redirigidos a la pantalla principal tras un </a:t>
            </a:r>
            <a:r>
              <a:rPr lang="es-ES" sz="2000" dirty="0" err="1"/>
              <a:t>login</a:t>
            </a:r>
            <a:r>
              <a:rPr lang="es-ES" sz="2000" dirty="0"/>
              <a:t> exitoso.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El sistema debe mostrar mensajes de error si las credenciales son incorrectas.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Work Sans Light Roma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58058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DFBB1-D500-4C37-6659-DEDEBD120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484F97-0579-07D3-A0F7-ED0540A0595C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s-CO" sz="3600" b="1" dirty="0">
                <a:solidFill>
                  <a:srgbClr val="4D4D4C"/>
                </a:solidFill>
                <a:latin typeface="WORK SANS BOLD ROMAN" pitchFamily="2" charset="77"/>
              </a:rPr>
              <a:t>Vista Circuito</a:t>
            </a:r>
            <a:endParaRPr kumimoji="0" lang="es-CO" sz="36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EF446E8-C5E0-8992-43C6-55C79CEFBDB1}"/>
              </a:ext>
            </a:extLst>
          </p:cNvPr>
          <p:cNvSpPr txBox="1"/>
          <p:nvPr/>
        </p:nvSpPr>
        <p:spPr>
          <a:xfrm>
            <a:off x="1810902" y="1889573"/>
            <a:ext cx="763789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El sistema debe permitir crear, leer, actualizar y eliminar (CRUD) circuitos.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Los circuitos deben ser seleccionables desde la tabla para ser editados o eliminados.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Work Sans Light Roman" pitchFamily="2" charset="77"/>
              </a:rPr>
              <a:t>El sistema debe permitir listar en combo box los circuitos para ser listados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Work Sans Light Roman" pitchFamily="2" charset="77"/>
              </a:rPr>
              <a:t>El sistema debe permitir crear, leer, actualizar y eliminar los ejercicios emparejados al circuito.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Work Sans Light Roman" pitchFamily="2" charset="77"/>
              </a:rPr>
              <a:t>Los ejercicios emparejados al circuito deben ser seleccionables desde la tabla para ser editados o eliminados.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La interfaz debe permitir cancelar una acción en proceso (crear o editar un circuito).</a:t>
            </a:r>
            <a:endParaRPr lang="es-ES" sz="2000" dirty="0">
              <a:latin typeface="Work Sans Light Roman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Work Sans Light Roma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00706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03FA3-5C7C-B3D5-9801-25C2D7C05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ECE5EE-E1BF-E2AC-B369-579AE6724C01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s-CO" sz="3600" b="1" dirty="0">
                <a:solidFill>
                  <a:srgbClr val="4D4D4C"/>
                </a:solidFill>
                <a:latin typeface="WORK SANS BOLD ROMAN" pitchFamily="2" charset="77"/>
              </a:rPr>
              <a:t>Vista Ejercicios</a:t>
            </a:r>
            <a:endParaRPr kumimoji="0" lang="es-CO" sz="36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B065862-E189-B609-F8F4-785B09DD2A78}"/>
              </a:ext>
            </a:extLst>
          </p:cNvPr>
          <p:cNvSpPr txBox="1"/>
          <p:nvPr/>
        </p:nvSpPr>
        <p:spPr>
          <a:xfrm>
            <a:off x="1810902" y="1889573"/>
            <a:ext cx="76378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El sistema debe permitir crear, leer, actualizar y eliminar ejercicios.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Los ejercicios deben estar listados en una tabla para que el administrador pueda visualizarlos.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Los ejercicios deben ser seleccionables desde la tabla para ser editados o eliminados.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La interfaz debe permitir cancelar una acción en proceso.</a:t>
            </a:r>
            <a:endParaRPr lang="es-ES" sz="2000" dirty="0">
              <a:latin typeface="Work Sans Light Roma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68074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B1FC7-45EC-7A92-5EAA-65182D6BE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9E36DB-3F02-ACE9-B590-FE9837542CF9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s-CO" sz="3600" b="1" dirty="0">
                <a:solidFill>
                  <a:srgbClr val="4D4D4C"/>
                </a:solidFill>
                <a:latin typeface="WORK SANS BOLD ROMAN" pitchFamily="2" charset="77"/>
              </a:rPr>
              <a:t>Vista Rutina</a:t>
            </a:r>
            <a:endParaRPr kumimoji="0" lang="es-CO" sz="36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2C88092-6350-C94C-EBB6-EF6CD170A48B}"/>
              </a:ext>
            </a:extLst>
          </p:cNvPr>
          <p:cNvSpPr txBox="1"/>
          <p:nvPr/>
        </p:nvSpPr>
        <p:spPr>
          <a:xfrm>
            <a:off x="1810902" y="1889573"/>
            <a:ext cx="763789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El sistema debe permitir crear, leer, actualizar y eliminar (CRUD) rutinas.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Las rutinas deben ser seleccionables desde la tabla para ser editados o eliminados.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Work Sans Light Roman" pitchFamily="2" charset="77"/>
              </a:rPr>
              <a:t>El sistema debe permitir listar en combo box las rutinas para ser listadas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Work Sans Light Roman" pitchFamily="2" charset="77"/>
              </a:rPr>
              <a:t>El sistema debe permitir crear, leer, actualizar y eliminar los circuitos emparejados a la rutina.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Work Sans Light Roman" pitchFamily="2" charset="77"/>
              </a:rPr>
              <a:t>Los circuitos emparejados a la rutina deben ser seleccionables desde la tabla para ser editados o eliminados.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La interfaz debe permitir cancelar una acción en proceso (crear o editar un circuito).</a:t>
            </a:r>
            <a:endParaRPr lang="es-ES" sz="2000" dirty="0">
              <a:latin typeface="Work Sans Light Roma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81792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FD704-06F6-C7C2-5BFC-374B147CE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2C282B-CE6F-51D7-F681-0325559B9921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s-CO" sz="3600" b="1" dirty="0">
                <a:solidFill>
                  <a:srgbClr val="4D4D4C"/>
                </a:solidFill>
                <a:latin typeface="WORK SANS BOLD ROMAN" pitchFamily="2" charset="77"/>
              </a:rPr>
              <a:t>Vista Usuario</a:t>
            </a:r>
            <a:endParaRPr kumimoji="0" lang="es-CO" sz="36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F868EC8-2558-E62E-AA93-8AAB5CF8F7FF}"/>
              </a:ext>
            </a:extLst>
          </p:cNvPr>
          <p:cNvSpPr txBox="1"/>
          <p:nvPr/>
        </p:nvSpPr>
        <p:spPr>
          <a:xfrm>
            <a:off x="1810902" y="1889573"/>
            <a:ext cx="76378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El sistema debe permitir leer, actualizar y eliminar usuarios.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Los usuarios deben estar listadas en una tabla para que los administrador puedan visualizarlos.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Los usuarios deben ser seleccionables desde la tabla para ser editados o eliminados.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La interfaz debe permitir cancelar una acción en proceso.</a:t>
            </a:r>
            <a:endParaRPr lang="es-ES" sz="2000" dirty="0">
              <a:latin typeface="Work Sans Light Roma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05720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FC8C8-A172-7ABF-DD96-5C77F4D91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5E9FF4-D509-2340-F5A0-FC1C63EF29B6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s-CO" sz="3600" b="1" dirty="0">
                <a:solidFill>
                  <a:srgbClr val="4D4D4C"/>
                </a:solidFill>
                <a:latin typeface="WORK SANS BOLD ROMAN" pitchFamily="2" charset="77"/>
              </a:rPr>
              <a:t>Vista Plan</a:t>
            </a:r>
            <a:endParaRPr kumimoji="0" lang="es-CO" sz="36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702FF4B-5FFA-A3A0-04A8-C3FA2F5C07E2}"/>
              </a:ext>
            </a:extLst>
          </p:cNvPr>
          <p:cNvSpPr txBox="1"/>
          <p:nvPr/>
        </p:nvSpPr>
        <p:spPr>
          <a:xfrm>
            <a:off x="1810902" y="1889573"/>
            <a:ext cx="76378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El sistema debe permitir leer, actualizar y eliminar planes.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Los planes deben estar listadas en una tabla para que los administrador puedan visualizarlos.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Los planes deben ser seleccionables desde la tabla para ser editados o eliminados.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La interfaz debe permitir cancelar una acción en proceso.</a:t>
            </a:r>
            <a:endParaRPr lang="es-ES" sz="2000" dirty="0">
              <a:latin typeface="Work Sans Light Roma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81877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1FEF253-53C4-B5FA-07C7-0B039B14F52F}"/>
              </a:ext>
            </a:extLst>
          </p:cNvPr>
          <p:cNvSpPr txBox="1"/>
          <p:nvPr/>
        </p:nvSpPr>
        <p:spPr>
          <a:xfrm>
            <a:off x="808566" y="2308651"/>
            <a:ext cx="105748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6000" b="1" dirty="0">
                <a:solidFill>
                  <a:srgbClr val="4D4D4C"/>
                </a:solidFill>
                <a:latin typeface="WORK SANS BOLD ROMAN" pitchFamily="2" charset="77"/>
              </a:rPr>
              <a:t>Requerimientos No Funcionales</a:t>
            </a:r>
            <a:endParaRPr kumimoji="0" lang="es-CO" sz="72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E0C963B-97B4-4F66-1B49-0B47BC7F0F1A}"/>
              </a:ext>
            </a:extLst>
          </p:cNvPr>
          <p:cNvCxnSpPr>
            <a:cxnSpLocks/>
          </p:cNvCxnSpPr>
          <p:nvPr/>
        </p:nvCxnSpPr>
        <p:spPr>
          <a:xfrm>
            <a:off x="4972228" y="3324314"/>
            <a:ext cx="2247544" cy="0"/>
          </a:xfrm>
          <a:prstGeom prst="line">
            <a:avLst/>
          </a:prstGeom>
          <a:ln w="12700">
            <a:solidFill>
              <a:srgbClr val="38A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9388A4DF-720D-E501-986E-D50B788D2F61}"/>
              </a:ext>
            </a:extLst>
          </p:cNvPr>
          <p:cNvSpPr txBox="1"/>
          <p:nvPr/>
        </p:nvSpPr>
        <p:spPr>
          <a:xfrm>
            <a:off x="4168816" y="3463724"/>
            <a:ext cx="38543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 Roman" pitchFamily="2" charset="77"/>
                <a:ea typeface="+mn-ea"/>
                <a:cs typeface="+mn-cs"/>
              </a:rPr>
              <a:t>Presentes en este </a:t>
            </a:r>
            <a:r>
              <a:rPr lang="es-CO" sz="1600" dirty="0">
                <a:solidFill>
                  <a:prstClr val="black"/>
                </a:solidFill>
                <a:latin typeface="Work Sans Light Roman" pitchFamily="2" charset="77"/>
              </a:rPr>
              <a:t>software</a:t>
            </a:r>
            <a:endParaRPr kumimoji="0" lang="es-CO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 Roman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8629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AC642-0654-A4C9-803D-381AF2032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130B87-73F4-31D9-4834-16F9802353FF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s-CO" sz="3600" b="1" dirty="0">
                <a:solidFill>
                  <a:srgbClr val="4D4D4C"/>
                </a:solidFill>
                <a:latin typeface="WORK SANS BOLD ROMAN" pitchFamily="2" charset="77"/>
              </a:rPr>
              <a:t>Requerimientos no funcionales</a:t>
            </a:r>
            <a:endParaRPr kumimoji="0" lang="es-CO" sz="36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CDA4D8A-FAC8-5E62-A2DF-1F1B252688AB}"/>
              </a:ext>
            </a:extLst>
          </p:cNvPr>
          <p:cNvSpPr txBox="1"/>
          <p:nvPr/>
        </p:nvSpPr>
        <p:spPr>
          <a:xfrm>
            <a:off x="456236" y="1158252"/>
            <a:ext cx="1127952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Debe haber un manejo adecuado de las sesiones para evitar accesos no autorizados.</a:t>
            </a:r>
          </a:p>
          <a:p>
            <a:endParaRPr lang="es-E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La interfaz gráfica debe ser intuitiva y fácil de usar.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Deben minimizarse los clics necesarios para realizar operaciones comunes (crear, editar, eliminar).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Las operaciones CRUD deben estar modularizadas.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Work Sans Light Roman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Work Sans Light Roman" pitchFamily="2" charset="77"/>
              </a:rPr>
              <a:t>Capacitación necesaria para la buena usabilidad del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>
              <a:latin typeface="Work Sans Light Roman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Work Sans Light Roman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Work Sans Light Roman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73859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1FEF253-53C4-B5FA-07C7-0B039B14F52F}"/>
              </a:ext>
            </a:extLst>
          </p:cNvPr>
          <p:cNvSpPr txBox="1"/>
          <p:nvPr/>
        </p:nvSpPr>
        <p:spPr>
          <a:xfrm>
            <a:off x="808566" y="2308651"/>
            <a:ext cx="105748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6000" b="1" dirty="0">
                <a:solidFill>
                  <a:srgbClr val="4D4D4C"/>
                </a:solidFill>
                <a:latin typeface="WORK SANS BOLD ROMAN" pitchFamily="2" charset="77"/>
              </a:rPr>
              <a:t>Base de datos</a:t>
            </a:r>
            <a:endParaRPr kumimoji="0" lang="es-CO" sz="72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E0C963B-97B4-4F66-1B49-0B47BC7F0F1A}"/>
              </a:ext>
            </a:extLst>
          </p:cNvPr>
          <p:cNvCxnSpPr>
            <a:cxnSpLocks/>
          </p:cNvCxnSpPr>
          <p:nvPr/>
        </p:nvCxnSpPr>
        <p:spPr>
          <a:xfrm>
            <a:off x="4972228" y="3324314"/>
            <a:ext cx="2247544" cy="0"/>
          </a:xfrm>
          <a:prstGeom prst="line">
            <a:avLst/>
          </a:prstGeom>
          <a:ln w="12700">
            <a:solidFill>
              <a:srgbClr val="38A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880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E75F1-F343-8856-BC69-4BB6B82BF3E4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s-CO" sz="3600" b="1" dirty="0">
                <a:solidFill>
                  <a:srgbClr val="4D4D4C"/>
                </a:solidFill>
                <a:latin typeface="WORK SANS BOLD ROMAN" pitchFamily="2" charset="77"/>
              </a:rPr>
              <a:t>Diagramado de Base de datos</a:t>
            </a:r>
            <a:endParaRPr kumimoji="0" lang="es-CO" sz="36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763DFEC-2173-4DA3-8687-C67CF8C45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406" y="1381480"/>
            <a:ext cx="8641187" cy="505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05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5BFFB67-C3D4-337D-C327-AB25D270EADA}"/>
              </a:ext>
            </a:extLst>
          </p:cNvPr>
          <p:cNvSpPr txBox="1"/>
          <p:nvPr/>
        </p:nvSpPr>
        <p:spPr>
          <a:xfrm>
            <a:off x="4185162" y="2623935"/>
            <a:ext cx="38216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60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BOLD ROMAN" pitchFamily="2" charset="77"/>
              </a:rPr>
              <a:t>Bibliografía</a:t>
            </a:r>
            <a:endParaRPr kumimoji="0" lang="es-CO" sz="72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38CE8666-1D2A-4D01-34E5-54FD74A39FC0}"/>
              </a:ext>
            </a:extLst>
          </p:cNvPr>
          <p:cNvCxnSpPr>
            <a:cxnSpLocks/>
          </p:cNvCxnSpPr>
          <p:nvPr/>
        </p:nvCxnSpPr>
        <p:spPr>
          <a:xfrm>
            <a:off x="5013630" y="3555133"/>
            <a:ext cx="224754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184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6D270-413B-35DB-E1BC-30115C094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CC1F9F-73F9-402E-E097-89DE62AA5944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s-CO" sz="3600" b="1" dirty="0">
                <a:solidFill>
                  <a:srgbClr val="4D4D4C"/>
                </a:solidFill>
                <a:latin typeface="WORK SANS BOLD ROMAN" pitchFamily="2" charset="77"/>
              </a:rPr>
              <a:t>Bibliografía</a:t>
            </a:r>
            <a:endParaRPr kumimoji="0" lang="es-CO" sz="36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A2F5B55-C7E4-FB44-5A54-78117A076BDC}"/>
              </a:ext>
            </a:extLst>
          </p:cNvPr>
          <p:cNvSpPr txBox="1"/>
          <p:nvPr/>
        </p:nvSpPr>
        <p:spPr>
          <a:xfrm>
            <a:off x="456236" y="1158252"/>
            <a:ext cx="112795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hlinkClick r:id="rId2"/>
              </a:rPr>
              <a:t>https://www.fdi.ucm.es/profesor/jpavon/poo/tema6resumido.pdf</a:t>
            </a:r>
            <a:endParaRPr lang="es-ES" sz="2000" dirty="0">
              <a:latin typeface="Work Sans Light Roman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Work Sans Light Roman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hlinkClick r:id="rId3"/>
              </a:rPr>
              <a:t>https://uneweb.edu.ve/tuto-docs/guia-mysql-1.pdf</a:t>
            </a:r>
            <a:endParaRPr lang="es-E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hlinkClick r:id="rId4"/>
              </a:rPr>
              <a:t>https://blog.hubspot.es/website/que-es-objeto-java</a:t>
            </a:r>
            <a:endParaRPr lang="es-E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hlinkClick r:id="rId5"/>
              </a:rPr>
              <a:t>https://chatgpt.com</a:t>
            </a:r>
            <a:endParaRPr lang="es-E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1095845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6266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4019</TotalTime>
  <Words>768</Words>
  <Application>Microsoft Office PowerPoint</Application>
  <PresentationFormat>Panorámica</PresentationFormat>
  <Paragraphs>77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Work Sans Bold Roman</vt:lpstr>
      <vt:lpstr>Work Sans Bold Roman</vt:lpstr>
      <vt:lpstr>Work Sans Light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Propietario</cp:lastModifiedBy>
  <cp:revision>79</cp:revision>
  <dcterms:created xsi:type="dcterms:W3CDTF">2020-10-01T23:51:28Z</dcterms:created>
  <dcterms:modified xsi:type="dcterms:W3CDTF">2024-10-29T16:35:38Z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